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699" r:id="rId2"/>
    <p:sldId id="4381" r:id="rId3"/>
    <p:sldId id="4389" r:id="rId4"/>
    <p:sldId id="4379" r:id="rId5"/>
    <p:sldId id="4377" r:id="rId6"/>
    <p:sldId id="4388" r:id="rId7"/>
    <p:sldId id="4387" r:id="rId8"/>
    <p:sldId id="4382" r:id="rId9"/>
    <p:sldId id="4392" r:id="rId10"/>
    <p:sldId id="4390" r:id="rId11"/>
    <p:sldId id="4384" r:id="rId12"/>
  </p:sldIdLst>
  <p:sldSz cx="12192000" cy="6858000"/>
  <p:notesSz cx="6797675" cy="9929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  <a:srgbClr val="0000FF"/>
    <a:srgbClr val="072AA8"/>
    <a:srgbClr val="172C51"/>
    <a:srgbClr val="FFFFFF"/>
    <a:srgbClr val="4472C4"/>
    <a:srgbClr val="EDF4F8"/>
    <a:srgbClr val="F7C29F"/>
    <a:srgbClr val="CCE9B4"/>
    <a:srgbClr val="040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9" autoAdjust="0"/>
    <p:restoredTop sz="88257" autoAdjust="0"/>
  </p:normalViewPr>
  <p:slideViewPr>
    <p:cSldViewPr snapToGrid="0">
      <p:cViewPr varScale="1">
        <p:scale>
          <a:sx n="98" d="100"/>
          <a:sy n="98" d="100"/>
        </p:scale>
        <p:origin x="954" y="9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406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215"/>
          </a:xfrm>
          <a:prstGeom prst="rect">
            <a:avLst/>
          </a:prstGeom>
        </p:spPr>
        <p:txBody>
          <a:bodyPr vert="horz" lIns="91330" tIns="45665" rIns="91330" bIns="45665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215"/>
          </a:xfrm>
          <a:prstGeom prst="rect">
            <a:avLst/>
          </a:prstGeom>
        </p:spPr>
        <p:txBody>
          <a:bodyPr vert="horz" lIns="91330" tIns="45665" rIns="91330" bIns="45665" rtlCol="0"/>
          <a:lstStyle>
            <a:lvl1pPr algn="r">
              <a:defRPr sz="1200"/>
            </a:lvl1pPr>
          </a:lstStyle>
          <a:p>
            <a:fld id="{1F65AAF1-AA75-4F94-9D40-41D08ADC4984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0" tIns="45665" rIns="91330" bIns="45665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3"/>
            <a:ext cx="5438140" cy="3909864"/>
          </a:xfrm>
          <a:prstGeom prst="rect">
            <a:avLst/>
          </a:prstGeom>
        </p:spPr>
        <p:txBody>
          <a:bodyPr vert="horz" lIns="91330" tIns="45665" rIns="91330" bIns="45665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31600"/>
            <a:ext cx="2945659" cy="498214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330" tIns="45665" rIns="91330" bIns="45665" rtlCol="0" anchor="b"/>
          <a:lstStyle>
            <a:lvl1pPr algn="r">
              <a:defRPr sz="1200"/>
            </a:lvl1pPr>
          </a:lstStyle>
          <a:p>
            <a:fld id="{CAD495D8-949E-4012-96A6-E4388127F4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83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35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78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006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286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16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014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77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268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95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579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495D8-949E-4012-96A6-E4388127F42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036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DCE0A-E047-9665-00B3-93B75D1D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40" y="54517"/>
            <a:ext cx="8397795" cy="834265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0AA3DC-E495-EAB0-E48E-CB321334EC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4" t="40928" r="24817" b="40438"/>
          <a:stretch/>
        </p:blipFill>
        <p:spPr>
          <a:xfrm>
            <a:off x="8871004" y="57908"/>
            <a:ext cx="3019910" cy="7904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5AA0415-19CA-4368-D9AC-0F38E1A19514}"/>
              </a:ext>
            </a:extLst>
          </p:cNvPr>
          <p:cNvSpPr/>
          <p:nvPr/>
        </p:nvSpPr>
        <p:spPr>
          <a:xfrm>
            <a:off x="11923776" y="-2101"/>
            <a:ext cx="268224" cy="955049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AA6E64-BB3B-2137-A140-DD7727D92130}"/>
              </a:ext>
            </a:extLst>
          </p:cNvPr>
          <p:cNvSpPr/>
          <p:nvPr/>
        </p:nvSpPr>
        <p:spPr>
          <a:xfrm>
            <a:off x="11923776" y="810649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FC9D81-581D-D0E5-B005-4CF11BBA2482}"/>
              </a:ext>
            </a:extLst>
          </p:cNvPr>
          <p:cNvSpPr/>
          <p:nvPr/>
        </p:nvSpPr>
        <p:spPr>
          <a:xfrm>
            <a:off x="11923776" y="634822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1BE3DA-FC4A-0787-5EC2-BEF4CF875A63}"/>
              </a:ext>
            </a:extLst>
          </p:cNvPr>
          <p:cNvSpPr/>
          <p:nvPr/>
        </p:nvSpPr>
        <p:spPr>
          <a:xfrm>
            <a:off x="11923776" y="458474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999B4A-7AB7-D60A-D837-5216F5DDE26F}"/>
              </a:ext>
            </a:extLst>
          </p:cNvPr>
          <p:cNvSpPr/>
          <p:nvPr/>
        </p:nvSpPr>
        <p:spPr>
          <a:xfrm>
            <a:off x="11923776" y="278121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846645-6E34-C1FC-7229-743296C2C46C}"/>
              </a:ext>
            </a:extLst>
          </p:cNvPr>
          <p:cNvSpPr/>
          <p:nvPr/>
        </p:nvSpPr>
        <p:spPr>
          <a:xfrm>
            <a:off x="11923776" y="98325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E83504-BB09-214C-6653-1A977703B616}"/>
              </a:ext>
            </a:extLst>
          </p:cNvPr>
          <p:cNvSpPr/>
          <p:nvPr/>
        </p:nvSpPr>
        <p:spPr>
          <a:xfrm>
            <a:off x="0" y="895265"/>
            <a:ext cx="12192000" cy="58795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C3EB72-A2F2-C373-C2B2-ED6D5C0C418A}"/>
              </a:ext>
            </a:extLst>
          </p:cNvPr>
          <p:cNvSpPr/>
          <p:nvPr/>
        </p:nvSpPr>
        <p:spPr>
          <a:xfrm>
            <a:off x="0" y="1638"/>
            <a:ext cx="369454" cy="951874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">
            <a:extLst>
              <a:ext uri="{FF2B5EF4-FFF2-40B4-BE49-F238E27FC236}">
                <a16:creationId xmlns:a16="http://schemas.microsoft.com/office/drawing/2014/main" id="{14B7D402-4B36-07DE-AC9B-E940A10A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</p:spPr>
        <p:txBody>
          <a:bodyPr/>
          <a:lstStyle/>
          <a:p>
            <a:fld id="{3199511B-D452-4412-BDB5-7D46B2F454AC}" type="datetime1">
              <a:rPr lang="zh-CN" altLang="en-US" smtClean="0"/>
              <a:t>2026/10/22</a:t>
            </a:fld>
            <a:endParaRPr lang="zh-CN" altLang="en-US" dirty="0"/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EE6FC011-3F53-54E9-76AB-B25F643A2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3">
            <a:extLst>
              <a:ext uri="{FF2B5EF4-FFF2-40B4-BE49-F238E27FC236}">
                <a16:creationId xmlns:a16="http://schemas.microsoft.com/office/drawing/2014/main" id="{29C036C2-A253-94CA-B00E-C3FAFE00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44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F4208-6CD7-1110-2861-52455EC62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94" y="1303266"/>
            <a:ext cx="10958805" cy="490127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C6F8FF-5B31-1890-B003-CAF8A0B76BE9}"/>
              </a:ext>
            </a:extLst>
          </p:cNvPr>
          <p:cNvSpPr/>
          <p:nvPr/>
        </p:nvSpPr>
        <p:spPr>
          <a:xfrm>
            <a:off x="0" y="1638"/>
            <a:ext cx="369454" cy="951874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EA8DA16-2A3E-0AAA-E285-5A28D07C632F}"/>
              </a:ext>
            </a:extLst>
          </p:cNvPr>
          <p:cNvSpPr/>
          <p:nvPr/>
        </p:nvSpPr>
        <p:spPr>
          <a:xfrm>
            <a:off x="11923776" y="-3919"/>
            <a:ext cx="268224" cy="955049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BC9501-87D4-BE8E-0624-0D8463077E5C}"/>
              </a:ext>
            </a:extLst>
          </p:cNvPr>
          <p:cNvSpPr/>
          <p:nvPr/>
        </p:nvSpPr>
        <p:spPr>
          <a:xfrm>
            <a:off x="11923776" y="808831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87B117-99F6-F803-E85B-2E37535F78EF}"/>
              </a:ext>
            </a:extLst>
          </p:cNvPr>
          <p:cNvSpPr/>
          <p:nvPr/>
        </p:nvSpPr>
        <p:spPr>
          <a:xfrm>
            <a:off x="11923776" y="633004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094EAA-9AD4-622B-E959-6612D570FD39}"/>
              </a:ext>
            </a:extLst>
          </p:cNvPr>
          <p:cNvSpPr/>
          <p:nvPr/>
        </p:nvSpPr>
        <p:spPr>
          <a:xfrm>
            <a:off x="11923776" y="456656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5A50C3-7AFB-92E8-FF7E-1D01288A96C4}"/>
              </a:ext>
            </a:extLst>
          </p:cNvPr>
          <p:cNvSpPr/>
          <p:nvPr/>
        </p:nvSpPr>
        <p:spPr>
          <a:xfrm>
            <a:off x="11923776" y="276303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AB96B0A-09AA-CFC8-E960-7E1B5BE8BBA0}"/>
              </a:ext>
            </a:extLst>
          </p:cNvPr>
          <p:cNvSpPr/>
          <p:nvPr/>
        </p:nvSpPr>
        <p:spPr>
          <a:xfrm>
            <a:off x="11923776" y="96507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52D14A-70C9-234A-43BB-B54CF39A8814}"/>
              </a:ext>
            </a:extLst>
          </p:cNvPr>
          <p:cNvSpPr/>
          <p:nvPr/>
        </p:nvSpPr>
        <p:spPr>
          <a:xfrm>
            <a:off x="0" y="893447"/>
            <a:ext cx="12192000" cy="58795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D061A985-948F-26B5-6563-4B30B7C4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</p:spPr>
        <p:txBody>
          <a:bodyPr/>
          <a:lstStyle/>
          <a:p>
            <a:fld id="{9993EB10-59CB-4F7A-87CA-6842EB77B7F4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507A07E9-5324-237D-5815-211B279B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B531C2BF-56B5-0AE7-7A31-B1AF0CB5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2F41DF6-EA25-460C-B745-7612B56835D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E04AC80-E790-C0D6-C170-24ACB0EF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90" y="54517"/>
            <a:ext cx="8397795" cy="834265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626E88-FCBF-6384-4841-4632678D72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4" t="40928" r="24817" b="40438"/>
          <a:stretch/>
        </p:blipFill>
        <p:spPr>
          <a:xfrm>
            <a:off x="8871004" y="57908"/>
            <a:ext cx="3019910" cy="7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0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B05D0C-8F5E-54CC-3FE3-F25B0EF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  <a:prstGeom prst="rect">
            <a:avLst/>
          </a:prstGeom>
        </p:spPr>
        <p:txBody>
          <a:bodyPr/>
          <a:lstStyle/>
          <a:p>
            <a:fld id="{A0ACE3B5-FFAC-48DB-AD9A-1D8B55D86C19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8775BD-BB3D-7ECA-9E49-BA66C18B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552F6D-21F9-61D3-4533-CE7415DA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E5C230-382A-3B52-C622-0224B65A6F99}"/>
              </a:ext>
            </a:extLst>
          </p:cNvPr>
          <p:cNvSpPr/>
          <p:nvPr/>
        </p:nvSpPr>
        <p:spPr>
          <a:xfrm>
            <a:off x="11923776" y="-5733"/>
            <a:ext cx="268224" cy="955049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737F70-05F1-2A4A-9747-411296E5D412}"/>
              </a:ext>
            </a:extLst>
          </p:cNvPr>
          <p:cNvSpPr/>
          <p:nvPr/>
        </p:nvSpPr>
        <p:spPr>
          <a:xfrm>
            <a:off x="11923776" y="807017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B2D34C-C714-2E70-E016-21586EFCCB3A}"/>
              </a:ext>
            </a:extLst>
          </p:cNvPr>
          <p:cNvSpPr/>
          <p:nvPr/>
        </p:nvSpPr>
        <p:spPr>
          <a:xfrm>
            <a:off x="11923776" y="631190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B9946F-9207-7FC4-ECC7-C2BE33094C49}"/>
              </a:ext>
            </a:extLst>
          </p:cNvPr>
          <p:cNvSpPr/>
          <p:nvPr/>
        </p:nvSpPr>
        <p:spPr>
          <a:xfrm>
            <a:off x="11923776" y="454842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1239EF-DE82-0755-62BA-373D29332F76}"/>
              </a:ext>
            </a:extLst>
          </p:cNvPr>
          <p:cNvSpPr/>
          <p:nvPr/>
        </p:nvSpPr>
        <p:spPr>
          <a:xfrm>
            <a:off x="11923776" y="274489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D82131-5EE0-EE95-D46D-884253F8710E}"/>
              </a:ext>
            </a:extLst>
          </p:cNvPr>
          <p:cNvSpPr/>
          <p:nvPr/>
        </p:nvSpPr>
        <p:spPr>
          <a:xfrm>
            <a:off x="11923776" y="94693"/>
            <a:ext cx="268224" cy="86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90A071-F34D-C7C3-F6FF-FC26C0E02B0C}"/>
              </a:ext>
            </a:extLst>
          </p:cNvPr>
          <p:cNvSpPr/>
          <p:nvPr/>
        </p:nvSpPr>
        <p:spPr>
          <a:xfrm>
            <a:off x="0" y="891633"/>
            <a:ext cx="12192000" cy="58795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0571E7-293E-C13F-9CDF-F36168AD14F9}"/>
              </a:ext>
            </a:extLst>
          </p:cNvPr>
          <p:cNvSpPr/>
          <p:nvPr/>
        </p:nvSpPr>
        <p:spPr>
          <a:xfrm>
            <a:off x="0" y="1638"/>
            <a:ext cx="369454" cy="951874"/>
          </a:xfrm>
          <a:prstGeom prst="rect">
            <a:avLst/>
          </a:prstGeom>
          <a:solidFill>
            <a:srgbClr val="185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EB21B0-B232-3770-CF19-DB2C50CD47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4" t="40928" r="24817" b="40438"/>
          <a:stretch/>
        </p:blipFill>
        <p:spPr>
          <a:xfrm>
            <a:off x="8871004" y="57908"/>
            <a:ext cx="3019910" cy="7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58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5CCAE-7062-AFD3-85FB-E5246D198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1D4610-6007-32AD-6AA5-40F8EBEEB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E7A4504B-CF6F-4F82-2C94-28B27C70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</p:spPr>
        <p:txBody>
          <a:bodyPr/>
          <a:lstStyle/>
          <a:p>
            <a:fld id="{5F1FABCA-9F68-45E3-B85E-8699A49BAD55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4B12963C-A3D9-F15F-A6D9-D6183FEC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B79B9CC-E2A7-20EB-E52F-8D796E72B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2F41DF6-EA25-460C-B745-7612B56835D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372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7CC01-2D0B-72E5-DADE-2D0E4B6D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6FCA94-D29F-2D0D-C798-E37A41588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08EFEEF9-A025-42D7-8F0D-79A9C16F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</p:spPr>
        <p:txBody>
          <a:bodyPr/>
          <a:lstStyle/>
          <a:p>
            <a:fld id="{DCC7717A-4D97-48B1-AF39-1497BCD4FC3E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15CEC2CE-F93C-24AF-6B7B-A2F7A00E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924F9350-A6F1-231C-3CBF-02A3186F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82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BEADB-68C5-F2CF-43DC-0B9B03EF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E87B1-3624-3A19-EBC2-A0499D3C2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259BBE-6D5F-EE8B-FD9E-681CA3636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A71D0FAB-FCA2-8EE3-18BE-0C4C43C3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</p:spPr>
        <p:txBody>
          <a:bodyPr/>
          <a:lstStyle/>
          <a:p>
            <a:fld id="{2B9CC111-370B-4DC3-ADAE-A900F1A8C0AD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9AE950AE-8B26-9E61-C6C7-5A28001B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28FBD387-E708-9FA2-9192-F6A68779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41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0D48E-7115-82A6-6A0D-9B000666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8F3BE7-EE88-3A3F-FC02-83A694325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7FD9FA-F0D6-C56A-1567-F68ACC53F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95BEC6-CF68-865F-6D0E-385A41F4D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3873E2-97A3-40E3-EAB3-2848247C3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日期占位符 1">
            <a:extLst>
              <a:ext uri="{FF2B5EF4-FFF2-40B4-BE49-F238E27FC236}">
                <a16:creationId xmlns:a16="http://schemas.microsoft.com/office/drawing/2014/main" id="{5D4A0832-4223-D4C1-6DA1-3D724E08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</p:spPr>
        <p:txBody>
          <a:bodyPr/>
          <a:lstStyle/>
          <a:p>
            <a:fld id="{146303B6-F47D-4D70-AA1A-F90E57A725BF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170044E4-A589-3B82-6CBF-42DCDC22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035E7B9-2F7A-64BF-44EB-0D4DFC31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50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DA8FA-E1A3-336D-7221-D0BC12E12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FD3C24-A26D-6805-6FE4-5E89D10D8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E98E46-7F6E-8DD3-AB23-9F9BBD8EC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A328DD30-8961-D54B-B50D-83246322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  <a:prstGeom prst="rect">
            <a:avLst/>
          </a:prstGeom>
        </p:spPr>
        <p:txBody>
          <a:bodyPr/>
          <a:lstStyle/>
          <a:p>
            <a:fld id="{059894B5-54BF-43E7-9519-6CEC5AB2FC7D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3457E478-FB2D-874A-A00F-3A1AAD0B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655E2DE2-4AE4-7E0B-7BD4-822CF73A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72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B7516-57C1-4D46-8BC5-8CA25E6B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D602A5-C2BA-FC46-1054-097DCAFEF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D9C75-93F9-84DC-8C4B-2407B90A0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144D0B21-5550-C3A2-C27C-887EC83D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  <a:prstGeom prst="rect">
            <a:avLst/>
          </a:prstGeom>
        </p:spPr>
        <p:txBody>
          <a:bodyPr/>
          <a:lstStyle/>
          <a:p>
            <a:fld id="{04A5AF75-45F6-4E00-BCBF-09266E22E38A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D02DEDA3-8C14-94C8-380F-75BAA9B6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4B036020-EF3A-BCA8-62A9-7485A49B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61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1874F-7862-4948-373C-2CAD087CF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D3A42C-0D41-D9AD-C77C-2DA77C7EE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5C04B44-40EF-B96D-72E5-4EAC7784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  <a:prstGeom prst="rect">
            <a:avLst/>
          </a:prstGeom>
        </p:spPr>
        <p:txBody>
          <a:bodyPr/>
          <a:lstStyle/>
          <a:p>
            <a:fld id="{BAD36778-7C27-46A5-ADEA-1B7C2337A325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6B308F97-20C7-8F9A-2355-1A356B30F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21E91B22-9D57-0885-AC14-4684FEB5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05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FAAD4E-93AA-46FB-3C47-890EEEF6A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9F52B9-A06F-57EB-BA9B-46669F1A8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72228670-5B80-71DD-95A1-C0C693FA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991" y="6449867"/>
            <a:ext cx="2743200" cy="365125"/>
          </a:xfrm>
          <a:prstGeom prst="rect">
            <a:avLst/>
          </a:prstGeom>
        </p:spPr>
        <p:txBody>
          <a:bodyPr/>
          <a:lstStyle/>
          <a:p>
            <a:fld id="{37E2F39D-D00D-4731-AA30-8F6A5084EF35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E6D542E3-9F5B-9E58-A0F4-89F9D9C5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0" y="64498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9454EB7-7563-95FC-1791-E758FD69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/>
          <a:p>
            <a:fld id="{12F41DF6-EA25-460C-B745-7612B56835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387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BA2CBBE4-8AE7-4D63-9D41-AA821EC8B2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61" t="7535" r="7392" b="26137"/>
          <a:stretch/>
        </p:blipFill>
        <p:spPr>
          <a:xfrm>
            <a:off x="10554489" y="340792"/>
            <a:ext cx="1208946" cy="412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BDC8F5-1402-4F36-8123-33267AE9A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9" y="286173"/>
            <a:ext cx="8679328" cy="89294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98C8C-37C0-4B20-999B-C8B0BF70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39" y="1382589"/>
            <a:ext cx="10883513" cy="4794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F9AA-8244-4315-A8D3-5263184C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1989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8/30/2021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DCA68-7E92-422F-86F2-6E6966C0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SDM374-Fall2021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7D211-2470-4FD0-BB43-2914A3ABA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0ACE83-090B-4678-B69E-28A7A73987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05"/>
          <a:stretch/>
        </p:blipFill>
        <p:spPr>
          <a:xfrm>
            <a:off x="760803" y="1068836"/>
            <a:ext cx="9324000" cy="395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D0A15BF-A570-4DB7-9AC6-5B1896D85654}"/>
              </a:ext>
            </a:extLst>
          </p:cNvPr>
          <p:cNvSpPr txBox="1"/>
          <p:nvPr userDrawn="1"/>
        </p:nvSpPr>
        <p:spPr>
          <a:xfrm>
            <a:off x="9254164" y="766396"/>
            <a:ext cx="2585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华光隶书_CNKI" panose="02000500000000000000" pitchFamily="2" charset="-122"/>
                <a:ea typeface="华光隶书_CNKI" panose="02000500000000000000" pitchFamily="2" charset="-122"/>
                <a:cs typeface="Times New Roman" panose="02020603050405020304" pitchFamily="18" charset="0"/>
              </a:rPr>
              <a:t>SDM374 Machine Learning System Design</a:t>
            </a:r>
            <a:endParaRPr lang="zh-CN" altLang="en-US" sz="1000" b="1" dirty="0">
              <a:solidFill>
                <a:schemeClr val="accent2">
                  <a:lumMod val="75000"/>
                </a:schemeClr>
              </a:solidFill>
              <a:latin typeface="华光隶书_CNKI" panose="02000500000000000000" pitchFamily="2" charset="-122"/>
              <a:ea typeface="华光隶书_CNKI" panose="02000500000000000000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B0A02E-9111-4787-989C-EFC8A82DE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92" r="25426" b="34819"/>
          <a:stretch/>
        </p:blipFill>
        <p:spPr>
          <a:xfrm>
            <a:off x="9363535" y="381223"/>
            <a:ext cx="1185603" cy="3585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061B64B-4994-4C4A-AC4C-CBE38CD61233}"/>
              </a:ext>
            </a:extLst>
          </p:cNvPr>
          <p:cNvSpPr txBox="1"/>
          <p:nvPr userDrawn="1"/>
        </p:nvSpPr>
        <p:spPr>
          <a:xfrm>
            <a:off x="9264650" y="691972"/>
            <a:ext cx="139529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tx1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School of </a:t>
            </a:r>
            <a:r>
              <a:rPr lang="en-US" altLang="zh-CN" sz="400" b="1" dirty="0">
                <a:solidFill>
                  <a:srgbClr val="932828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400" b="1" dirty="0">
                <a:solidFill>
                  <a:schemeClr val="tx1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ystem </a:t>
            </a:r>
            <a:r>
              <a:rPr lang="en-US" altLang="zh-CN" sz="400" b="1" dirty="0">
                <a:solidFill>
                  <a:srgbClr val="932828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400" b="1" dirty="0">
                <a:solidFill>
                  <a:schemeClr val="tx1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esign and </a:t>
            </a:r>
            <a:r>
              <a:rPr lang="en-US" altLang="zh-CN" sz="400" b="1" dirty="0">
                <a:solidFill>
                  <a:srgbClr val="932828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b="1" dirty="0">
                <a:solidFill>
                  <a:schemeClr val="tx1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ntelligent </a:t>
            </a:r>
            <a:r>
              <a:rPr lang="en-US" altLang="zh-CN" sz="400" b="1" dirty="0">
                <a:solidFill>
                  <a:srgbClr val="932828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400" b="1" dirty="0">
                <a:solidFill>
                  <a:schemeClr val="tx1"/>
                </a:solidFill>
                <a:latin typeface="Times New Roman" panose="02020603050405020304" pitchFamily="18" charset="0"/>
                <a:ea typeface="华光隶书_CNKI" panose="02000500000000000000" pitchFamily="2" charset="-122"/>
                <a:cs typeface="Times New Roman" panose="02020603050405020304" pitchFamily="18" charset="0"/>
              </a:rPr>
              <a:t>anufacturing</a:t>
            </a:r>
            <a:endParaRPr lang="zh-CN" altLang="en-US" sz="400" b="1" dirty="0">
              <a:solidFill>
                <a:schemeClr val="tx1"/>
              </a:solidFill>
              <a:latin typeface="Times New Roman" panose="02020603050405020304" pitchFamily="18" charset="0"/>
              <a:ea typeface="华光隶书_CNKI" panose="02000500000000000000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5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EEE0DE-857E-01BD-B4DD-8184CD10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607" y="290824"/>
            <a:ext cx="7729336" cy="834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F0C6E3-1319-9C9A-908B-41D95F399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76" y="1508760"/>
            <a:ext cx="10631424" cy="466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B1162BB7-542A-426E-ABCB-7E02BBFA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991" y="6449867"/>
            <a:ext cx="2743200" cy="365125"/>
          </a:xfrm>
          <a:prstGeom prst="rect">
            <a:avLst/>
          </a:prstGeom>
        </p:spPr>
        <p:txBody>
          <a:bodyPr/>
          <a:lstStyle/>
          <a:p>
            <a:fld id="{DC05EF70-057D-4EA1-9C08-03FF85538EE1}" type="datetime1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55311DB6-7B48-39B5-3B40-18F649694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52900" y="644986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BC9605A-1E61-214D-9022-73C51555A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69138" y="644986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2F41DF6-EA25-460C-B745-7612B56835D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96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0" r:id="rId2"/>
    <p:sldLayoutId id="2147483655" r:id="rId3"/>
    <p:sldLayoutId id="2147483649" r:id="rId4"/>
    <p:sldLayoutId id="2147483651" r:id="rId5"/>
    <p:sldLayoutId id="2147483652" r:id="rId6"/>
    <p:sldLayoutId id="2147483653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EF0E24-A508-E0BA-E90F-28618DE51A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0" t="40989" r="24779" b="40874"/>
          <a:stretch/>
        </p:blipFill>
        <p:spPr>
          <a:xfrm>
            <a:off x="6917027" y="285516"/>
            <a:ext cx="4512835" cy="1147013"/>
          </a:xfrm>
          <a:prstGeom prst="rect">
            <a:avLst/>
          </a:prstGeom>
        </p:spPr>
      </p:pic>
      <p:sp>
        <p:nvSpPr>
          <p:cNvPr id="7" name="AutoShape 4" descr="南方科技大学-自动化与智能制造学院">
            <a:extLst>
              <a:ext uri="{FF2B5EF4-FFF2-40B4-BE49-F238E27FC236}">
                <a16:creationId xmlns:a16="http://schemas.microsoft.com/office/drawing/2014/main" id="{0925C8FA-752C-F467-57A7-5B3BA0FC55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93DA93-5BC5-2C74-116C-F3C8ABDE53E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</a:blip>
          <a:srcRect l="11345" t="35464" r="11208" b="35524"/>
          <a:stretch>
            <a:fillRect/>
          </a:stretch>
        </p:blipFill>
        <p:spPr>
          <a:xfrm>
            <a:off x="389878" y="328358"/>
            <a:ext cx="6150485" cy="114380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7950FA-148B-601A-0597-3BC35014C99C}"/>
              </a:ext>
            </a:extLst>
          </p:cNvPr>
          <p:cNvSpPr/>
          <p:nvPr/>
        </p:nvSpPr>
        <p:spPr>
          <a:xfrm>
            <a:off x="0" y="2491105"/>
            <a:ext cx="12192000" cy="2752408"/>
          </a:xfrm>
          <a:prstGeom prst="rect">
            <a:avLst/>
          </a:prstGeom>
          <a:solidFill>
            <a:srgbClr val="3332B1"/>
          </a:solidFill>
        </p:spPr>
        <p:txBody>
          <a:bodyPr wrap="none" lIns="0" tIns="0" rIns="0" bIns="0">
            <a:noAutofit/>
          </a:bodyPr>
          <a:lstStyle/>
          <a:p>
            <a:pPr indent="0" algn="ctr"/>
            <a:endParaRPr lang="en-US" sz="3600" dirty="0">
              <a:solidFill>
                <a:srgbClr val="FFFFFF"/>
              </a:solidFill>
              <a:latin typeface="Arial" panose="020B0604020202090204"/>
            </a:endParaRPr>
          </a:p>
          <a:p>
            <a:pPr indent="0" algn="ctr"/>
            <a:r>
              <a:rPr lang="en-US" sz="3600" b="1" dirty="0">
                <a:solidFill>
                  <a:srgbClr val="FFFFFF"/>
                </a:solidFill>
                <a:latin typeface="Arial" panose="020B0604020202090204"/>
              </a:rPr>
              <a:t>SDM374      L</a:t>
            </a:r>
            <a:r>
              <a:rPr lang="en-US" altLang="zh-CN" sz="3600" b="1" dirty="0">
                <a:solidFill>
                  <a:srgbClr val="FFFFFF"/>
                </a:solidFill>
                <a:latin typeface="Arial" panose="020B0604020202090204"/>
              </a:rPr>
              <a:t>ab6</a:t>
            </a:r>
            <a:endParaRPr lang="en-US" sz="3600" b="1" dirty="0">
              <a:solidFill>
                <a:srgbClr val="FFFFFF"/>
              </a:solidFill>
              <a:latin typeface="Arial" panose="020B0604020202090204"/>
            </a:endParaRPr>
          </a:p>
          <a:p>
            <a:pPr indent="0" algn="ctr"/>
            <a:r>
              <a:rPr lang="en-US" altLang="zh-CN" sz="3600" b="1" dirty="0">
                <a:solidFill>
                  <a:srgbClr val="FFFFFF"/>
                </a:solidFill>
                <a:latin typeface="Arial" panose="020B0604020202090204"/>
              </a:rPr>
              <a:t>Data-driven Tuning of Building </a:t>
            </a:r>
          </a:p>
          <a:p>
            <a:pPr indent="0" algn="ctr"/>
            <a:r>
              <a:rPr lang="en-US" altLang="zh-CN" sz="3600" b="1" dirty="0">
                <a:solidFill>
                  <a:srgbClr val="FFFFFF"/>
                </a:solidFill>
                <a:latin typeface="Arial" panose="020B0604020202090204"/>
              </a:rPr>
              <a:t>Energy Controllers</a:t>
            </a:r>
          </a:p>
        </p:txBody>
      </p:sp>
    </p:spTree>
    <p:extLst>
      <p:ext uri="{BB962C8B-B14F-4D97-AF65-F5344CB8AC3E}">
        <p14:creationId xmlns:p14="http://schemas.microsoft.com/office/powerpoint/2010/main" val="58704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背景介绍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楼宇自控与能耗监测的技术特点 - 知乎">
            <a:extLst>
              <a:ext uri="{FF2B5EF4-FFF2-40B4-BE49-F238E27FC236}">
                <a16:creationId xmlns:a16="http://schemas.microsoft.com/office/drawing/2014/main" id="{BFCC1EBE-242E-94D9-EF6C-DEEE459F3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313" y="2315183"/>
            <a:ext cx="4783657" cy="347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F9E00BB-8AA3-A686-140F-9E79FC6CE8A6}"/>
              </a:ext>
            </a:extLst>
          </p:cNvPr>
          <p:cNvSpPr txBox="1"/>
          <p:nvPr/>
        </p:nvSpPr>
        <p:spPr>
          <a:xfrm>
            <a:off x="553851" y="1673734"/>
            <a:ext cx="11084297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随着“双碳”目标的推进，建筑能耗的精细化管控成为行业焦点。现代建筑中普遍使用楼宇微电网系统进行能源管理。然而，在实际工程中面临两大核心痛点：</a:t>
            </a:r>
            <a:endParaRPr lang="en-US" altLang="zh-CN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030FF3-C914-9FC6-81D2-04DED1B28E33}"/>
              </a:ext>
            </a:extLst>
          </p:cNvPr>
          <p:cNvSpPr txBox="1"/>
          <p:nvPr/>
        </p:nvSpPr>
        <p:spPr>
          <a:xfrm>
            <a:off x="634035" y="2833911"/>
            <a:ext cx="7238004" cy="295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用电波动量难以估计</a:t>
            </a:r>
            <a:endParaRPr lang="en-US" altLang="zh-CN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用电波动量受多重因素耦合影响，精准仿真计算难度极高，需建立代理模型以实现快速预测</a:t>
            </a:r>
            <a:endParaRPr lang="en-US" altLang="zh-CN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zh-CN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用电参数整定依赖经验，难以适应动态环境</a:t>
            </a:r>
            <a:endParaRPr lang="en-US" altLang="zh-CN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面对天气波动、人员流动等因素，静态参数极易失效，导致系统偏离最优工作点</a:t>
            </a:r>
          </a:p>
        </p:txBody>
      </p:sp>
    </p:spTree>
    <p:extLst>
      <p:ext uri="{BB962C8B-B14F-4D97-AF65-F5344CB8AC3E}">
        <p14:creationId xmlns:p14="http://schemas.microsoft.com/office/powerpoint/2010/main" val="68445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用电参数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B5DD807-F654-E23E-8E33-2D5BD84716CF}"/>
              </a:ext>
            </a:extLst>
          </p:cNvPr>
          <p:cNvGraphicFramePr/>
          <p:nvPr/>
        </p:nvGraphicFramePr>
        <p:xfrm>
          <a:off x="851370" y="2712956"/>
          <a:ext cx="10489259" cy="2401060"/>
        </p:xfrm>
        <a:graphic>
          <a:graphicData uri="http://schemas.openxmlformats.org/drawingml/2006/table">
            <a:tbl>
              <a:tblPr/>
              <a:tblGrid>
                <a:gridCol w="1281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53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0265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建筑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电费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碳排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峰值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舒适</a:t>
                      </a: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损耗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波动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韧性</a:t>
                      </a:r>
                      <a:endParaRPr sz="2000" b="1" dirty="0">
                        <a:solidFill>
                          <a:srgbClr val="FAFAFA"/>
                        </a:solidFill>
                        <a:latin typeface="FandolHei-Bold"/>
                        <a:ea typeface="FandolHei-Bold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26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第</a:t>
                      </a:r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1</a:t>
                      </a:r>
                      <a:r>
                        <a:rPr sz="20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栋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26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第</a:t>
                      </a:r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2</a:t>
                      </a:r>
                      <a:r>
                        <a:rPr sz="20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栋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6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第</a:t>
                      </a:r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3</a:t>
                      </a:r>
                      <a:r>
                        <a:rPr sz="20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栋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w19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w20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2DEADDE-0BA8-4551-B24E-3AF9DAEBE3C5}"/>
              </a:ext>
            </a:extLst>
          </p:cNvPr>
          <p:cNvSpPr txBox="1"/>
          <p:nvPr/>
        </p:nvSpPr>
        <p:spPr>
          <a:xfrm>
            <a:off x="851370" y="1729983"/>
            <a:ext cx="51003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lang="zh-CN" altLang="en-US"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用电参数要求：每行非负且至少有一个正数</a:t>
            </a:r>
          </a:p>
        </p:txBody>
      </p:sp>
    </p:spTree>
    <p:extLst>
      <p:ext uri="{BB962C8B-B14F-4D97-AF65-F5344CB8AC3E}">
        <p14:creationId xmlns:p14="http://schemas.microsoft.com/office/powerpoint/2010/main" val="388553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用电波动量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4</a:t>
            </a:fld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BAF112-3F34-94FD-9232-4FB6EBE84104}"/>
              </a:ext>
            </a:extLst>
          </p:cNvPr>
          <p:cNvSpPr>
            <a:spLocks noGrp="1"/>
          </p:cNvSpPr>
          <p:nvPr/>
        </p:nvSpPr>
        <p:spPr>
          <a:xfrm>
            <a:off x="788106" y="1546462"/>
            <a:ext cx="8429349" cy="36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3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Eₜ：楼</a:t>
            </a:r>
            <a:r>
              <a:rPr lang="zh-CN" altLang="en-US"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</a:t>
            </a:r>
            <a:r>
              <a:rPr sz="2000" dirty="0" err="1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在第t小时的净用电量之和，单位kWh</a:t>
            </a:r>
            <a:r>
              <a:rPr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064363-DBCD-3B12-FD36-DCE39A1C6907}"/>
              </a:ext>
            </a:extLst>
          </p:cNvPr>
          <p:cNvSpPr>
            <a:spLocks noGrp="1"/>
          </p:cNvSpPr>
          <p:nvPr/>
        </p:nvSpPr>
        <p:spPr>
          <a:xfrm>
            <a:off x="788106" y="2245407"/>
            <a:ext cx="8429349" cy="6311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76BA0"/>
                </a:solidFill>
                <a:latin typeface="FandolHei-Bold"/>
                <a:ea typeface="FandolHei-Bold"/>
                <a:cs typeface="FandolHei-Bold"/>
              </a:defRPr>
            </a:pPr>
            <a:r>
              <a:rPr sz="3600" b="1" dirty="0">
                <a:solidFill>
                  <a:srgbClr val="176BA0"/>
                </a:solidFill>
                <a:latin typeface="Fira Sans"/>
                <a:ea typeface="Fira Sans"/>
                <a:cs typeface="Fira Sans"/>
              </a:rPr>
              <a:t>R = </a:t>
            </a:r>
            <a:r>
              <a:rPr sz="3600" b="1" dirty="0">
                <a:solidFill>
                  <a:srgbClr val="176BA0"/>
                </a:solidFill>
                <a:latin typeface="FandolHei-Bold"/>
                <a:ea typeface="FandolHei-Bold"/>
                <a:cs typeface="FandolHei-Bold"/>
              </a:rPr>
              <a:t>Σₜ₌₂ᵀ</a:t>
            </a:r>
            <a:r>
              <a:rPr sz="3600" b="1" dirty="0">
                <a:solidFill>
                  <a:srgbClr val="176BA0"/>
                </a:solidFill>
                <a:latin typeface="Fira Sans"/>
                <a:ea typeface="Fira Sans"/>
                <a:cs typeface="Fira Sans"/>
              </a:rPr>
              <a:t> | E</a:t>
            </a:r>
            <a:r>
              <a:rPr sz="3600" b="1" dirty="0">
                <a:solidFill>
                  <a:srgbClr val="176BA0"/>
                </a:solidFill>
                <a:latin typeface="FandolHei-Bold"/>
                <a:ea typeface="FandolHei-Bold"/>
                <a:cs typeface="FandolHei-Bold"/>
              </a:rPr>
              <a:t>ₜ</a:t>
            </a:r>
            <a:r>
              <a:rPr sz="3600" b="1" dirty="0">
                <a:solidFill>
                  <a:srgbClr val="176BA0"/>
                </a:solidFill>
                <a:latin typeface="Fira Sans"/>
                <a:ea typeface="Fira Sans"/>
                <a:cs typeface="Fira Sans"/>
              </a:rPr>
              <a:t> </a:t>
            </a:r>
            <a:r>
              <a:rPr sz="3600" b="1" dirty="0">
                <a:solidFill>
                  <a:srgbClr val="176BA0"/>
                </a:solidFill>
                <a:latin typeface="FandolHei-Bold"/>
                <a:ea typeface="FandolHei-Bold"/>
                <a:cs typeface="FandolHei-Bold"/>
              </a:rPr>
              <a:t>−</a:t>
            </a:r>
            <a:r>
              <a:rPr sz="3600" b="1" dirty="0">
                <a:solidFill>
                  <a:srgbClr val="176BA0"/>
                </a:solidFill>
                <a:latin typeface="Fira Sans"/>
                <a:ea typeface="Fira Sans"/>
                <a:cs typeface="Fira Sans"/>
              </a:rPr>
              <a:t> E</a:t>
            </a:r>
            <a:r>
              <a:rPr sz="3600" b="1" dirty="0">
                <a:solidFill>
                  <a:srgbClr val="176BA0"/>
                </a:solidFill>
                <a:latin typeface="FandolHei-Bold"/>
                <a:ea typeface="FandolHei-Bold"/>
                <a:cs typeface="FandolHei-Bold"/>
              </a:rPr>
              <a:t>ₜ₋₁</a:t>
            </a:r>
            <a:r>
              <a:rPr sz="3600" b="1" dirty="0">
                <a:solidFill>
                  <a:srgbClr val="176BA0"/>
                </a:solidFill>
                <a:latin typeface="Fira Sans"/>
                <a:ea typeface="Fira Sans"/>
                <a:cs typeface="Fira Sans"/>
              </a:rPr>
              <a:t> |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C5E292-7F26-66CE-6818-4D615C2870FF}"/>
              </a:ext>
            </a:extLst>
          </p:cNvPr>
          <p:cNvSpPr>
            <a:spLocks noGrp="1"/>
          </p:cNvSpPr>
          <p:nvPr/>
        </p:nvSpPr>
        <p:spPr>
          <a:xfrm>
            <a:off x="788105" y="3070354"/>
            <a:ext cx="8429349" cy="4825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1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一周168小时，计算167次差值</a:t>
            </a:r>
            <a:r>
              <a:rPr lang="zh-CN" altLang="en-US"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000" dirty="0" err="1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R的单位也是kWh</a:t>
            </a:r>
            <a:r>
              <a:rPr sz="2000" dirty="0">
                <a:solidFill>
                  <a:srgbClr val="2337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721BAC4-CC4D-E949-6D31-76B6F2367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715471"/>
              </p:ext>
            </p:extLst>
          </p:nvPr>
        </p:nvGraphicFramePr>
        <p:xfrm>
          <a:off x="788105" y="3981479"/>
          <a:ext cx="10079920" cy="2021271"/>
        </p:xfrm>
        <a:graphic>
          <a:graphicData uri="http://schemas.openxmlformats.org/drawingml/2006/table">
            <a:tbl>
              <a:tblPr/>
              <a:tblGrid>
                <a:gridCol w="3635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1" dirty="0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示例：连续</a:t>
                      </a:r>
                      <a:r>
                        <a:rPr sz="2400" b="1" dirty="0">
                          <a:solidFill>
                            <a:srgbClr val="FAFAFA"/>
                          </a:solidFill>
                          <a:latin typeface="Fira Sans"/>
                          <a:ea typeface="Fira Sans"/>
                          <a:cs typeface="Fira Sans"/>
                        </a:rPr>
                        <a:t>4</a:t>
                      </a:r>
                      <a:r>
                        <a:rPr sz="2400" b="1" dirty="0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小时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1" dirty="0" err="1">
                          <a:solidFill>
                            <a:srgbClr val="FAFAFA"/>
                          </a:solidFill>
                          <a:latin typeface="FandolHei-Bold"/>
                          <a:ea typeface="FandolHei-Bold"/>
                          <a:cs typeface="FandolHei-Bold"/>
                        </a:rPr>
                        <a:t>净用电量</a:t>
                      </a:r>
                      <a:r>
                        <a:rPr sz="2400" b="1" dirty="0">
                          <a:solidFill>
                            <a:srgbClr val="FAFAFA"/>
                          </a:solidFill>
                          <a:latin typeface="Fira Sans"/>
                          <a:ea typeface="Fira Sans"/>
                          <a:cs typeface="Fira Sans"/>
                        </a:rPr>
                        <a:t> / kWh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1">
                          <a:solidFill>
                            <a:srgbClr val="FAFAFA"/>
                          </a:solidFill>
                          <a:latin typeface="Fira Sans"/>
                          <a:ea typeface="Fira Sans"/>
                          <a:cs typeface="Fira Sans"/>
                        </a:rPr>
                        <a:t>R / kWh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0" dirty="0" err="1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变化较大</a:t>
                      </a:r>
                      <a:endParaRPr sz="2400" b="0" dirty="0">
                        <a:solidFill>
                          <a:srgbClr val="23373B"/>
                        </a:solidFill>
                        <a:latin typeface="FandolHei-Regular"/>
                        <a:ea typeface="FandolHei-Regular"/>
                        <a:cs typeface="FandolHei-Regular"/>
                      </a:endParaRP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3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，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5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，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4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，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7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2+1</a:t>
                      </a:r>
                      <a:r>
                        <a:rPr lang="en-US"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+0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 = 6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变化较小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5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，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5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，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4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rPr>
                        <a:t>，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l"/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0+1+1</a:t>
                      </a:r>
                      <a:r>
                        <a:rPr lang="en-US"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 </a:t>
                      </a:r>
                      <a:r>
                        <a:rPr sz="2400" b="0" dirty="0">
                          <a:solidFill>
                            <a:srgbClr val="23373B"/>
                          </a:solidFill>
                          <a:latin typeface="Fira Sans Light"/>
                          <a:ea typeface="Fira Sans Light"/>
                          <a:cs typeface="Fira Sans Light"/>
                        </a:rPr>
                        <a:t>= 2</a:t>
                      </a:r>
                    </a:p>
                  </a:txBody>
                  <a:tcPr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92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任务描述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5</a:t>
            </a:fld>
            <a:endParaRPr 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1F77FAB-00B2-4F61-812C-3BE55CD2C6CD}"/>
              </a:ext>
            </a:extLst>
          </p:cNvPr>
          <p:cNvSpPr txBox="1"/>
          <p:nvPr/>
        </p:nvSpPr>
        <p:spPr>
          <a:xfrm>
            <a:off x="606625" y="1372814"/>
            <a:ext cx="10175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建立楼宇电网的预测代理模型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，寻优一组参数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，最小化用电波动量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39380F-7B0C-96A1-358F-9FD7B9AD4D39}"/>
              </a:ext>
            </a:extLst>
          </p:cNvPr>
          <p:cNvSpPr txBox="1"/>
          <p:nvPr/>
        </p:nvSpPr>
        <p:spPr>
          <a:xfrm>
            <a:off x="611407" y="2080076"/>
            <a:ext cx="1039494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：利用离线数据，训练代理模型并寻优得到一组参数，在测试集上计算这组参数的性能指标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9488475-173D-FA75-8B16-7F4ECC56E631}"/>
              </a:ext>
            </a:extLst>
          </p:cNvPr>
          <p:cNvGrpSpPr/>
          <p:nvPr/>
        </p:nvGrpSpPr>
        <p:grpSpPr>
          <a:xfrm>
            <a:off x="738692" y="2976748"/>
            <a:ext cx="10262875" cy="1517090"/>
            <a:chOff x="738692" y="2976748"/>
            <a:chExt cx="10262875" cy="151709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C6D231A-AA4B-A948-777D-D47C41C37EFD}"/>
                </a:ext>
              </a:extLst>
            </p:cNvPr>
            <p:cNvSpPr/>
            <p:nvPr/>
          </p:nvSpPr>
          <p:spPr>
            <a:xfrm>
              <a:off x="4248061" y="3423417"/>
              <a:ext cx="2773318" cy="1070421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离线代理模型</a:t>
              </a:r>
              <a:r>
                <a:rPr lang="en-US" altLang="zh-CN" dirty="0"/>
                <a:t>M</a:t>
              </a:r>
              <a:r>
                <a:rPr lang="en-US" altLang="zh-CN" baseline="-25000" dirty="0"/>
                <a:t>off</a:t>
              </a:r>
            </a:p>
            <a:p>
              <a:pPr algn="ctr"/>
              <a:r>
                <a:rPr lang="en-US" altLang="zh-CN" b="1" dirty="0"/>
                <a:t>R = M</a:t>
              </a:r>
              <a:r>
                <a:rPr lang="en-US" altLang="zh-CN" b="1" baseline="-25000" dirty="0"/>
                <a:t>off</a:t>
              </a:r>
              <a:r>
                <a:rPr lang="en-US" altLang="zh-CN" b="1" dirty="0"/>
                <a:t>(W)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A2E66F9-3535-EE79-102E-3FD288037B04}"/>
                </a:ext>
              </a:extLst>
            </p:cNvPr>
            <p:cNvSpPr/>
            <p:nvPr/>
          </p:nvSpPr>
          <p:spPr>
            <a:xfrm>
              <a:off x="738692" y="3429000"/>
              <a:ext cx="1904999" cy="106483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用电参数</a:t>
              </a:r>
              <a:r>
                <a:rPr lang="en-US" altLang="zh-CN" b="1" dirty="0"/>
                <a:t>W</a:t>
              </a:r>
            </a:p>
            <a:p>
              <a:pPr algn="ctr"/>
              <a:r>
                <a:rPr lang="zh-CN" altLang="en-US" dirty="0"/>
                <a:t>用电波动量</a:t>
              </a:r>
              <a:r>
                <a:rPr lang="en-US" altLang="zh-CN" dirty="0"/>
                <a:t>R</a:t>
              </a:r>
              <a:endParaRPr lang="zh-CN" altLang="en-US" dirty="0"/>
            </a:p>
          </p:txBody>
        </p:sp>
        <p:sp>
          <p:nvSpPr>
            <p:cNvPr id="15" name="箭头: 右 14">
              <a:extLst>
                <a:ext uri="{FF2B5EF4-FFF2-40B4-BE49-F238E27FC236}">
                  <a16:creationId xmlns:a16="http://schemas.microsoft.com/office/drawing/2014/main" id="{A73F9F7C-8F74-5D38-6E5D-443F41BBF7D5}"/>
                </a:ext>
              </a:extLst>
            </p:cNvPr>
            <p:cNvSpPr/>
            <p:nvPr/>
          </p:nvSpPr>
          <p:spPr>
            <a:xfrm>
              <a:off x="2806348" y="3794731"/>
              <a:ext cx="1249873" cy="333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5E137625-0300-5703-747F-ECB17E69D2D3}"/>
                </a:ext>
              </a:extLst>
            </p:cNvPr>
            <p:cNvSpPr/>
            <p:nvPr/>
          </p:nvSpPr>
          <p:spPr>
            <a:xfrm>
              <a:off x="7405059" y="3865084"/>
              <a:ext cx="1249873" cy="333375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3F581D5-950E-8D61-A08B-D953C585EFE3}"/>
                </a:ext>
              </a:extLst>
            </p:cNvPr>
            <p:cNvSpPr/>
            <p:nvPr/>
          </p:nvSpPr>
          <p:spPr>
            <a:xfrm>
              <a:off x="8871335" y="3429000"/>
              <a:ext cx="2130232" cy="106483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最优用电参数</a:t>
              </a:r>
              <a:r>
                <a:rPr lang="en-US" altLang="zh-CN" b="1" dirty="0"/>
                <a:t>W</a:t>
              </a:r>
              <a:r>
                <a:rPr lang="en-US" altLang="zh-CN" b="1" baseline="30000" dirty="0"/>
                <a:t>*</a:t>
              </a:r>
              <a:endParaRPr lang="zh-CN" altLang="en-US" b="1" baseline="300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EDF9DD6-2C73-5B99-7765-7D2BDA1ABA38}"/>
                </a:ext>
              </a:extLst>
            </p:cNvPr>
            <p:cNvSpPr txBox="1"/>
            <p:nvPr/>
          </p:nvSpPr>
          <p:spPr>
            <a:xfrm>
              <a:off x="7365135" y="3423417"/>
              <a:ext cx="12606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参数寻优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02A4D4B-6215-65E1-8D80-979C1BB54144}"/>
                </a:ext>
              </a:extLst>
            </p:cNvPr>
            <p:cNvSpPr txBox="1"/>
            <p:nvPr/>
          </p:nvSpPr>
          <p:spPr>
            <a:xfrm>
              <a:off x="1002541" y="2976748"/>
              <a:ext cx="1377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离线数据集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DE2A470-8F38-BC04-2861-89E26DAA26FE}"/>
              </a:ext>
            </a:extLst>
          </p:cNvPr>
          <p:cNvSpPr txBox="1"/>
          <p:nvPr/>
        </p:nvSpPr>
        <p:spPr>
          <a:xfrm>
            <a:off x="606625" y="4799667"/>
            <a:ext cx="10394942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105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训练集共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2048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条，每条数据是一组用电参数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和平均用电波动量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R)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105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使用寻优后的最优用电参数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，用黑盒评估测试真实用电波动量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109EE7-E396-633F-2E38-79C35B2FC229}"/>
              </a:ext>
            </a:extLst>
          </p:cNvPr>
          <p:cNvSpPr txBox="1"/>
          <p:nvPr/>
        </p:nvSpPr>
        <p:spPr>
          <a:xfrm>
            <a:off x="606625" y="6204123"/>
            <a:ext cx="6686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离线测试评估第</a:t>
            </a:r>
            <a:r>
              <a:rPr kumimoji="1" lang="en-US" altLang="zh-CN" b="1" dirty="0">
                <a:solidFill>
                  <a:srgbClr val="FF0000"/>
                </a:solidFill>
              </a:rPr>
              <a:t>8</a:t>
            </a:r>
            <a:r>
              <a:rPr kumimoji="1" lang="zh-CN" altLang="en-US" b="1" dirty="0">
                <a:solidFill>
                  <a:srgbClr val="FF0000"/>
                </a:solidFill>
              </a:rPr>
              <a:t>周</a:t>
            </a:r>
            <a:r>
              <a:rPr kumimoji="1" lang="en-US" altLang="zh-CN" b="1" dirty="0">
                <a:solidFill>
                  <a:srgbClr val="FF0000"/>
                </a:solidFill>
              </a:rPr>
              <a:t>Lab</a:t>
            </a:r>
            <a:r>
              <a:rPr kumimoji="1" lang="zh-CN" altLang="en-US" b="1" dirty="0">
                <a:solidFill>
                  <a:srgbClr val="FF0000"/>
                </a:solidFill>
              </a:rPr>
              <a:t>进行，总共两次提交机会，取最好成绩。</a:t>
            </a:r>
          </a:p>
        </p:txBody>
      </p:sp>
    </p:spTree>
    <p:extLst>
      <p:ext uri="{BB962C8B-B14F-4D97-AF65-F5344CB8AC3E}">
        <p14:creationId xmlns:p14="http://schemas.microsoft.com/office/powerpoint/2010/main" val="137512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任务描述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D544E7-2D07-069C-DBB9-D4A831397A4C}"/>
              </a:ext>
            </a:extLst>
          </p:cNvPr>
          <p:cNvSpPr txBox="1"/>
          <p:nvPr/>
        </p:nvSpPr>
        <p:spPr>
          <a:xfrm>
            <a:off x="558279" y="1410627"/>
            <a:ext cx="1051555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：迭代执行代理模型训练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参数寻优，每次迭代利用寻优的参数更新模型训练数据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B5BB7D9-8402-2443-F6DE-572EACAEB220}"/>
              </a:ext>
            </a:extLst>
          </p:cNvPr>
          <p:cNvGrpSpPr/>
          <p:nvPr/>
        </p:nvGrpSpPr>
        <p:grpSpPr>
          <a:xfrm>
            <a:off x="618333" y="2892968"/>
            <a:ext cx="10380604" cy="2490157"/>
            <a:chOff x="618333" y="2892968"/>
            <a:chExt cx="10380604" cy="2490157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C6D231A-AA4B-A948-777D-D47C41C37EFD}"/>
                </a:ext>
              </a:extLst>
            </p:cNvPr>
            <p:cNvSpPr/>
            <p:nvPr/>
          </p:nvSpPr>
          <p:spPr>
            <a:xfrm>
              <a:off x="4380027" y="4215454"/>
              <a:ext cx="2773318" cy="1070421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在线代理模型</a:t>
              </a:r>
              <a:r>
                <a:rPr lang="en-US" altLang="zh-CN" dirty="0"/>
                <a:t>M</a:t>
              </a:r>
              <a:r>
                <a:rPr lang="en-US" altLang="zh-CN" baseline="-25000" dirty="0"/>
                <a:t>on</a:t>
              </a:r>
              <a:endParaRPr lang="zh-CN" altLang="en-US" baseline="-25000" dirty="0"/>
            </a:p>
            <a:p>
              <a:pPr algn="ctr"/>
              <a:r>
                <a:rPr lang="en-US" altLang="zh-CN" b="1" dirty="0"/>
                <a:t>R = M</a:t>
              </a:r>
              <a:r>
                <a:rPr lang="en-US" altLang="zh-CN" b="1" baseline="-25000" dirty="0"/>
                <a:t>on</a:t>
              </a:r>
              <a:r>
                <a:rPr lang="en-US" altLang="zh-CN" b="1" dirty="0"/>
                <a:t>(W)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A2E66F9-3535-EE79-102E-3FD288037B04}"/>
                </a:ext>
              </a:extLst>
            </p:cNvPr>
            <p:cNvSpPr/>
            <p:nvPr/>
          </p:nvSpPr>
          <p:spPr>
            <a:xfrm>
              <a:off x="618333" y="2927879"/>
              <a:ext cx="1904999" cy="8342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用电参数</a:t>
              </a:r>
              <a:r>
                <a:rPr lang="en-US" altLang="zh-CN" b="1" dirty="0"/>
                <a:t>W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ED719DB-E2EF-3EFE-C962-C6B9BA55A13C}"/>
                </a:ext>
              </a:extLst>
            </p:cNvPr>
            <p:cNvSpPr/>
            <p:nvPr/>
          </p:nvSpPr>
          <p:spPr>
            <a:xfrm>
              <a:off x="9093938" y="2912361"/>
              <a:ext cx="1904999" cy="834265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用电波动量</a:t>
              </a:r>
              <a:r>
                <a:rPr lang="en-US" altLang="zh-CN" dirty="0"/>
                <a:t>R</a:t>
              </a:r>
              <a:endParaRPr lang="zh-CN" altLang="en-US" dirty="0"/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5003FBE-8176-BBBA-7CF1-6847D2AC56FD}"/>
                </a:ext>
              </a:extLst>
            </p:cNvPr>
            <p:cNvSpPr/>
            <p:nvPr/>
          </p:nvSpPr>
          <p:spPr>
            <a:xfrm>
              <a:off x="4380027" y="2892968"/>
              <a:ext cx="2773318" cy="83426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真实评估器</a:t>
              </a: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CBDF3191-112B-61A9-BF41-EBD7F1E0072D}"/>
                </a:ext>
              </a:extLst>
            </p:cNvPr>
            <p:cNvSpPr/>
            <p:nvPr/>
          </p:nvSpPr>
          <p:spPr>
            <a:xfrm flipH="1">
              <a:off x="7414368" y="4128680"/>
              <a:ext cx="2708984" cy="763410"/>
            </a:xfrm>
            <a:custGeom>
              <a:avLst/>
              <a:gdLst>
                <a:gd name="connsiteX0" fmla="*/ 0 w 2687597"/>
                <a:gd name="connsiteY0" fmla="*/ 0 h 763410"/>
                <a:gd name="connsiteX1" fmla="*/ 182783 w 2687597"/>
                <a:gd name="connsiteY1" fmla="*/ 0 h 763410"/>
                <a:gd name="connsiteX2" fmla="*/ 182783 w 2687597"/>
                <a:gd name="connsiteY2" fmla="*/ 513379 h 763410"/>
                <a:gd name="connsiteX3" fmla="*/ 2520910 w 2687597"/>
                <a:gd name="connsiteY3" fmla="*/ 513379 h 763410"/>
                <a:gd name="connsiteX4" fmla="*/ 2520910 w 2687597"/>
                <a:gd name="connsiteY4" fmla="*/ 430035 h 763410"/>
                <a:gd name="connsiteX5" fmla="*/ 2687597 w 2687597"/>
                <a:gd name="connsiteY5" fmla="*/ 596723 h 763410"/>
                <a:gd name="connsiteX6" fmla="*/ 2520910 w 2687597"/>
                <a:gd name="connsiteY6" fmla="*/ 763410 h 763410"/>
                <a:gd name="connsiteX7" fmla="*/ 2520910 w 2687597"/>
                <a:gd name="connsiteY7" fmla="*/ 680066 h 763410"/>
                <a:gd name="connsiteX8" fmla="*/ 0 w 2687597"/>
                <a:gd name="connsiteY8" fmla="*/ 680066 h 763410"/>
                <a:gd name="connsiteX9" fmla="*/ 0 w 2687597"/>
                <a:gd name="connsiteY9" fmla="*/ 642966 h 763410"/>
                <a:gd name="connsiteX10" fmla="*/ 0 w 2687597"/>
                <a:gd name="connsiteY10" fmla="*/ 513379 h 763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87597" h="763410">
                  <a:moveTo>
                    <a:pt x="0" y="0"/>
                  </a:moveTo>
                  <a:lnTo>
                    <a:pt x="182783" y="0"/>
                  </a:lnTo>
                  <a:lnTo>
                    <a:pt x="182783" y="513379"/>
                  </a:lnTo>
                  <a:lnTo>
                    <a:pt x="2520910" y="513379"/>
                  </a:lnTo>
                  <a:lnTo>
                    <a:pt x="2520910" y="430035"/>
                  </a:lnTo>
                  <a:lnTo>
                    <a:pt x="2687597" y="596723"/>
                  </a:lnTo>
                  <a:lnTo>
                    <a:pt x="2520910" y="763410"/>
                  </a:lnTo>
                  <a:lnTo>
                    <a:pt x="2520910" y="680066"/>
                  </a:lnTo>
                  <a:lnTo>
                    <a:pt x="0" y="680066"/>
                  </a:lnTo>
                  <a:lnTo>
                    <a:pt x="0" y="642966"/>
                  </a:lnTo>
                  <a:lnTo>
                    <a:pt x="0" y="513379"/>
                  </a:lnTo>
                  <a:close/>
                </a:path>
              </a:pathLst>
            </a:cu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903545EE-7823-FBE4-009D-24732534AB1E}"/>
                </a:ext>
              </a:extLst>
            </p:cNvPr>
            <p:cNvSpPr/>
            <p:nvPr/>
          </p:nvSpPr>
          <p:spPr>
            <a:xfrm flipH="1">
              <a:off x="1289767" y="4128680"/>
              <a:ext cx="2918406" cy="691807"/>
            </a:xfrm>
            <a:custGeom>
              <a:avLst/>
              <a:gdLst>
                <a:gd name="connsiteX0" fmla="*/ 2751719 w 2918406"/>
                <a:gd name="connsiteY0" fmla="*/ 0 h 721808"/>
                <a:gd name="connsiteX1" fmla="*/ 2918406 w 2918406"/>
                <a:gd name="connsiteY1" fmla="*/ 166687 h 721808"/>
                <a:gd name="connsiteX2" fmla="*/ 2835062 w 2918406"/>
                <a:gd name="connsiteY2" fmla="*/ 166687 h 721808"/>
                <a:gd name="connsiteX3" fmla="*/ 2835062 w 2918406"/>
                <a:gd name="connsiteY3" fmla="*/ 519562 h 721808"/>
                <a:gd name="connsiteX4" fmla="*/ 2837252 w 2918406"/>
                <a:gd name="connsiteY4" fmla="*/ 519562 h 721808"/>
                <a:gd name="connsiteX5" fmla="*/ 2837252 w 2918406"/>
                <a:gd name="connsiteY5" fmla="*/ 721808 h 721808"/>
                <a:gd name="connsiteX6" fmla="*/ 0 w 2918406"/>
                <a:gd name="connsiteY6" fmla="*/ 721808 h 721808"/>
                <a:gd name="connsiteX7" fmla="*/ 0 w 2918406"/>
                <a:gd name="connsiteY7" fmla="*/ 519562 h 721808"/>
                <a:gd name="connsiteX8" fmla="*/ 2668375 w 2918406"/>
                <a:gd name="connsiteY8" fmla="*/ 519562 h 721808"/>
                <a:gd name="connsiteX9" fmla="*/ 2668375 w 2918406"/>
                <a:gd name="connsiteY9" fmla="*/ 166687 h 721808"/>
                <a:gd name="connsiteX10" fmla="*/ 2585031 w 2918406"/>
                <a:gd name="connsiteY10" fmla="*/ 166687 h 721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8406" h="721808">
                  <a:moveTo>
                    <a:pt x="2751719" y="0"/>
                  </a:moveTo>
                  <a:lnTo>
                    <a:pt x="2918406" y="166687"/>
                  </a:lnTo>
                  <a:lnTo>
                    <a:pt x="2835062" y="166687"/>
                  </a:lnTo>
                  <a:lnTo>
                    <a:pt x="2835062" y="519562"/>
                  </a:lnTo>
                  <a:lnTo>
                    <a:pt x="2837252" y="519562"/>
                  </a:lnTo>
                  <a:lnTo>
                    <a:pt x="2837252" y="721808"/>
                  </a:lnTo>
                  <a:lnTo>
                    <a:pt x="0" y="721808"/>
                  </a:lnTo>
                  <a:lnTo>
                    <a:pt x="0" y="519562"/>
                  </a:lnTo>
                  <a:lnTo>
                    <a:pt x="2668375" y="519562"/>
                  </a:lnTo>
                  <a:lnTo>
                    <a:pt x="2668375" y="166687"/>
                  </a:lnTo>
                  <a:lnTo>
                    <a:pt x="2585031" y="166687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3C3BD69A-3E5E-E26E-36FE-A7E3799F114C}"/>
                </a:ext>
              </a:extLst>
            </p:cNvPr>
            <p:cNvSpPr/>
            <p:nvPr/>
          </p:nvSpPr>
          <p:spPr>
            <a:xfrm rot="10800000" flipH="1">
              <a:off x="7376268" y="3115557"/>
              <a:ext cx="1512987" cy="45890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DCC0E82-DDE2-FE5E-8887-33AF894F65B2}"/>
                </a:ext>
              </a:extLst>
            </p:cNvPr>
            <p:cNvSpPr txBox="1"/>
            <p:nvPr/>
          </p:nvSpPr>
          <p:spPr>
            <a:xfrm>
              <a:off x="7619478" y="5013793"/>
              <a:ext cx="3350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利用即时数据（</a:t>
              </a:r>
              <a:r>
                <a:rPr lang="en-US" altLang="zh-CN" dirty="0"/>
                <a:t>W,R</a:t>
              </a:r>
              <a:r>
                <a:rPr lang="zh-CN" altLang="en-US" dirty="0"/>
                <a:t>）更新模型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9317C78-3C7F-2CD6-DB1E-0D5ACCC92E5F}"/>
                </a:ext>
              </a:extLst>
            </p:cNvPr>
            <p:cNvSpPr txBox="1"/>
            <p:nvPr/>
          </p:nvSpPr>
          <p:spPr>
            <a:xfrm>
              <a:off x="2192257" y="491654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参数寻优</a:t>
              </a:r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72E2C2DE-D928-C6D6-02BD-9ABD1659531E}"/>
                </a:ext>
              </a:extLst>
            </p:cNvPr>
            <p:cNvSpPr/>
            <p:nvPr/>
          </p:nvSpPr>
          <p:spPr>
            <a:xfrm rot="10800000" flipH="1">
              <a:off x="2746255" y="3116601"/>
              <a:ext cx="1461918" cy="45890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089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在线模型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7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7FEADC-A199-1D46-C14E-7312D36C9C0F}"/>
              </a:ext>
            </a:extLst>
          </p:cNvPr>
          <p:cNvSpPr>
            <a:spLocks noGrp="1"/>
          </p:cNvSpPr>
          <p:nvPr/>
        </p:nvSpPr>
        <p:spPr>
          <a:xfrm>
            <a:off x="732447" y="2000413"/>
            <a:ext cx="10412172" cy="5492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60" b="0">
                <a:solidFill>
                  <a:srgbClr val="23373B"/>
                </a:solidFill>
                <a:latin typeface="FandolHei-Regular"/>
                <a:ea typeface="FandolHei-Regular"/>
                <a:cs typeface="FandolHei-Regular"/>
              </a:defRPr>
            </a:pP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FandolHei-Regular"/>
              </a:rPr>
              <a:t>最多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FandolHei-Regular"/>
              </a:rPr>
              <a:t>迭代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Fira Sans Light"/>
              </a:rPr>
              <a:t>20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FandolHei-Regular"/>
              </a:rPr>
              <a:t>次，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每次迭代利用寻优的参数更新最多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条模型训练数据，实时优化代理模型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FandolHei-Regular"/>
              </a:rPr>
              <a:t>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947B1B-9BB6-C347-1386-9161823DC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188170"/>
              </p:ext>
            </p:extLst>
          </p:nvPr>
        </p:nvGraphicFramePr>
        <p:xfrm>
          <a:off x="732447" y="2792060"/>
          <a:ext cx="10727106" cy="2357596"/>
        </p:xfrm>
        <a:graphic>
          <a:graphicData uri="http://schemas.openxmlformats.org/drawingml/2006/table">
            <a:tbl>
              <a:tblPr/>
              <a:tblGrid>
                <a:gridCol w="3517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399"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AFA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尝试</a:t>
                      </a:r>
                      <a:r>
                        <a:rPr lang="en-US" sz="2000" b="1" dirty="0">
                          <a:solidFill>
                            <a:srgbClr val="FAFA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(</a:t>
                      </a:r>
                      <a:r>
                        <a:rPr lang="zh-CN" altLang="en-US" sz="2000" b="1" dirty="0">
                          <a:solidFill>
                            <a:srgbClr val="FAFA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最小化</a:t>
                      </a:r>
                      <a:r>
                        <a:rPr lang="en-US" sz="2000" b="1" dirty="0">
                          <a:solidFill>
                            <a:srgbClr val="FAFA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)</a:t>
                      </a:r>
                      <a:endParaRPr sz="2000" b="1" dirty="0">
                        <a:solidFill>
                          <a:srgbClr val="FAFAF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dirty="0" err="1">
                          <a:solidFill>
                            <a:srgbClr val="FAFA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本次分数</a:t>
                      </a:r>
                      <a:endParaRPr sz="2000" b="1" dirty="0">
                        <a:solidFill>
                          <a:srgbClr val="FAFAF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AFAF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已测最好</a:t>
                      </a: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399"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离线起点</a:t>
                      </a:r>
                      <a:endParaRPr sz="2000" b="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100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100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399"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下一组参数</a:t>
                      </a:r>
                      <a:endParaRPr sz="2000" b="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103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100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399"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再下一组参数</a:t>
                      </a:r>
                      <a:endParaRPr sz="2000" b="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97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97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94C0CC-2DD2-1C48-F202-1FEC6648ED38}"/>
              </a:ext>
            </a:extLst>
          </p:cNvPr>
          <p:cNvSpPr txBox="1"/>
          <p:nvPr/>
        </p:nvSpPr>
        <p:spPr>
          <a:xfrm>
            <a:off x="800541" y="5392013"/>
            <a:ext cx="10833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在测试模型：第</a:t>
            </a:r>
            <a:r>
              <a:rPr kumimoji="1" lang="en-US" altLang="zh-CN" b="1" dirty="0">
                <a:solidFill>
                  <a:srgbClr val="FF0000"/>
                </a:solidFill>
              </a:rPr>
              <a:t>8</a:t>
            </a:r>
            <a:r>
              <a:rPr kumimoji="1" lang="zh-CN" altLang="en-US" b="1" dirty="0">
                <a:solidFill>
                  <a:srgbClr val="FF0000"/>
                </a:solidFill>
              </a:rPr>
              <a:t>周</a:t>
            </a:r>
            <a:r>
              <a:rPr kumimoji="1" lang="en-US" altLang="zh-CN" b="1" dirty="0">
                <a:solidFill>
                  <a:srgbClr val="FF0000"/>
                </a:solidFill>
              </a:rPr>
              <a:t>-</a:t>
            </a:r>
            <a:r>
              <a:rPr kumimoji="1" lang="zh-CN" altLang="en-US" b="1" dirty="0">
                <a:solidFill>
                  <a:srgbClr val="FF0000"/>
                </a:solidFill>
              </a:rPr>
              <a:t>第</a:t>
            </a:r>
            <a:r>
              <a:rPr kumimoji="1" lang="en-US" altLang="zh-CN" b="1" dirty="0">
                <a:solidFill>
                  <a:srgbClr val="FF0000"/>
                </a:solidFill>
              </a:rPr>
              <a:t>10</a:t>
            </a:r>
            <a:r>
              <a:rPr kumimoji="1" lang="zh-CN" altLang="en-US" b="1" dirty="0">
                <a:solidFill>
                  <a:srgbClr val="FF0000"/>
                </a:solidFill>
              </a:rPr>
              <a:t>周。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第</a:t>
            </a:r>
            <a:r>
              <a:rPr kumimoji="1" lang="en-US" altLang="zh-CN" b="1" dirty="0">
                <a:solidFill>
                  <a:srgbClr val="FF0000"/>
                </a:solidFill>
              </a:rPr>
              <a:t>8</a:t>
            </a:r>
            <a:r>
              <a:rPr kumimoji="1" lang="zh-CN" altLang="en-US" b="1" dirty="0">
                <a:solidFill>
                  <a:srgbClr val="FF0000"/>
                </a:solidFill>
              </a:rPr>
              <a:t>周</a:t>
            </a:r>
            <a:r>
              <a:rPr kumimoji="1" lang="en-US" altLang="zh-CN" b="1" dirty="0">
                <a:solidFill>
                  <a:srgbClr val="FF0000"/>
                </a:solidFill>
              </a:rPr>
              <a:t>Lab</a:t>
            </a:r>
            <a:r>
              <a:rPr kumimoji="1" lang="zh-CN" altLang="en-US" b="1" dirty="0">
                <a:solidFill>
                  <a:srgbClr val="FF0000"/>
                </a:solidFill>
              </a:rPr>
              <a:t>给大家公开真实的评估器软件，第</a:t>
            </a:r>
            <a:r>
              <a:rPr kumimoji="1" lang="en-US" altLang="zh-CN" b="1" dirty="0">
                <a:solidFill>
                  <a:srgbClr val="FF0000"/>
                </a:solidFill>
              </a:rPr>
              <a:t>10</a:t>
            </a:r>
            <a:r>
              <a:rPr kumimoji="1" lang="zh-CN" altLang="en-US" b="1" dirty="0">
                <a:solidFill>
                  <a:srgbClr val="FF0000"/>
                </a:solidFill>
              </a:rPr>
              <a:t>周</a:t>
            </a:r>
            <a:r>
              <a:rPr kumimoji="1" lang="en-US" altLang="zh-CN" b="1" dirty="0">
                <a:solidFill>
                  <a:srgbClr val="FF0000"/>
                </a:solidFill>
              </a:rPr>
              <a:t>Lab</a:t>
            </a:r>
            <a:r>
              <a:rPr kumimoji="1" lang="zh-CN" altLang="en-US" b="1" dirty="0">
                <a:solidFill>
                  <a:srgbClr val="FF0000"/>
                </a:solidFill>
              </a:rPr>
              <a:t>课做</a:t>
            </a:r>
            <a:r>
              <a:rPr kumimoji="1" lang="en-US" altLang="zh-CN" b="1" dirty="0">
                <a:solidFill>
                  <a:srgbClr val="FF0000"/>
                </a:solidFill>
              </a:rPr>
              <a:t>Presentation+</a:t>
            </a:r>
            <a:r>
              <a:rPr kumimoji="1" lang="zh-CN" altLang="en-US" b="1" dirty="0">
                <a:solidFill>
                  <a:srgbClr val="FF0000"/>
                </a:solidFill>
              </a:rPr>
              <a:t>交代码</a:t>
            </a:r>
            <a:r>
              <a:rPr kumimoji="1" lang="en-US" altLang="zh-CN" b="1" dirty="0">
                <a:solidFill>
                  <a:srgbClr val="FF0000"/>
                </a:solidFill>
              </a:rPr>
              <a:t>+</a:t>
            </a:r>
            <a:r>
              <a:rPr kumimoji="1" lang="zh-CN" altLang="en-US" b="1" dirty="0">
                <a:solidFill>
                  <a:srgbClr val="FF0000"/>
                </a:solidFill>
              </a:rPr>
              <a:t>交报告。</a:t>
            </a:r>
          </a:p>
        </p:txBody>
      </p:sp>
    </p:spTree>
    <p:extLst>
      <p:ext uri="{BB962C8B-B14F-4D97-AF65-F5344CB8AC3E}">
        <p14:creationId xmlns:p14="http://schemas.microsoft.com/office/powerpoint/2010/main" val="31803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FandolHei-Bold"/>
              </a:rPr>
              <a:t>二次岭回归</a:t>
            </a:r>
            <a:r>
              <a:rPr lang="en-US" altLang="zh-CN" dirty="0">
                <a:cs typeface="FandolHei-Bold"/>
              </a:rPr>
              <a:t>Baseline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8</a:t>
            </a:fld>
            <a:endParaRPr 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83E872-9C54-64A9-911E-E8D07C299794}"/>
              </a:ext>
            </a:extLst>
          </p:cNvPr>
          <p:cNvSpPr txBox="1"/>
          <p:nvPr/>
        </p:nvSpPr>
        <p:spPr>
          <a:xfrm>
            <a:off x="639460" y="117831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二次岭回归：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255047D-4C49-1B27-A82C-802B518C5661}"/>
              </a:ext>
            </a:extLst>
          </p:cNvPr>
          <p:cNvSpPr txBox="1"/>
          <p:nvPr/>
        </p:nvSpPr>
        <p:spPr>
          <a:xfrm>
            <a:off x="639460" y="429611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离线训练流程：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6279749-6172-0960-6E6A-38F75A9E3559}"/>
              </a:ext>
            </a:extLst>
          </p:cNvPr>
          <p:cNvGrpSpPr/>
          <p:nvPr/>
        </p:nvGrpSpPr>
        <p:grpSpPr>
          <a:xfrm>
            <a:off x="718740" y="4962605"/>
            <a:ext cx="10389977" cy="1070421"/>
            <a:chOff x="718740" y="4962605"/>
            <a:chExt cx="10389977" cy="107042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4D9299C-5A7F-7BD4-CD3D-01AA3FEFE70E}"/>
                </a:ext>
              </a:extLst>
            </p:cNvPr>
            <p:cNvSpPr/>
            <p:nvPr/>
          </p:nvSpPr>
          <p:spPr>
            <a:xfrm>
              <a:off x="4257292" y="4962605"/>
              <a:ext cx="2773318" cy="1070421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岭回归模型</a:t>
              </a:r>
              <a:r>
                <a:rPr lang="en-US" altLang="zh-CN" dirty="0"/>
                <a:t>M</a:t>
              </a:r>
              <a:r>
                <a:rPr lang="en-US" altLang="zh-CN" baseline="-25000" dirty="0"/>
                <a:t>off</a:t>
              </a:r>
            </a:p>
            <a:p>
              <a:pPr algn="ctr"/>
              <a:r>
                <a:rPr lang="en-US" altLang="zh-CN" dirty="0"/>
                <a:t>R = M</a:t>
              </a:r>
              <a:r>
                <a:rPr lang="en-US" altLang="zh-CN" baseline="-25000" dirty="0"/>
                <a:t>off</a:t>
              </a:r>
              <a:r>
                <a:rPr lang="en-US" altLang="zh-CN" b="1" dirty="0"/>
                <a:t>(W)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48CCBD3-DDCA-AC9C-0919-4ADC59B724CD}"/>
                </a:ext>
              </a:extLst>
            </p:cNvPr>
            <p:cNvSpPr/>
            <p:nvPr/>
          </p:nvSpPr>
          <p:spPr>
            <a:xfrm>
              <a:off x="718740" y="4968188"/>
              <a:ext cx="1904999" cy="106483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用电参数</a:t>
              </a:r>
              <a:r>
                <a:rPr lang="en-US" altLang="zh-CN" b="1" dirty="0"/>
                <a:t>W</a:t>
              </a:r>
            </a:p>
            <a:p>
              <a:pPr algn="ctr"/>
              <a:r>
                <a:rPr lang="zh-CN" altLang="en-US" dirty="0"/>
                <a:t>用电波动量</a:t>
              </a:r>
              <a:r>
                <a:rPr lang="en-US" altLang="zh-CN" dirty="0"/>
                <a:t>R</a:t>
              </a:r>
              <a:endParaRPr lang="zh-CN" altLang="en-US" dirty="0"/>
            </a:p>
          </p:txBody>
        </p:sp>
        <p:sp>
          <p:nvSpPr>
            <p:cNvPr id="6" name="箭头: 右 5">
              <a:extLst>
                <a:ext uri="{FF2B5EF4-FFF2-40B4-BE49-F238E27FC236}">
                  <a16:creationId xmlns:a16="http://schemas.microsoft.com/office/drawing/2014/main" id="{BA7B5ADD-A0D2-662B-8785-25FE23DAF077}"/>
                </a:ext>
              </a:extLst>
            </p:cNvPr>
            <p:cNvSpPr/>
            <p:nvPr/>
          </p:nvSpPr>
          <p:spPr>
            <a:xfrm>
              <a:off x="2815579" y="5333919"/>
              <a:ext cx="1249873" cy="333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038FFFA-D7AE-041A-AC41-63313B4264CF}"/>
                </a:ext>
              </a:extLst>
            </p:cNvPr>
            <p:cNvSpPr txBox="1"/>
            <p:nvPr/>
          </p:nvSpPr>
          <p:spPr>
            <a:xfrm>
              <a:off x="7414290" y="49645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梯度下降</a:t>
              </a:r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C334D43E-54CA-6032-C994-A5D6FA4FB609}"/>
                </a:ext>
              </a:extLst>
            </p:cNvPr>
            <p:cNvSpPr/>
            <p:nvPr/>
          </p:nvSpPr>
          <p:spPr>
            <a:xfrm>
              <a:off x="7414290" y="5404272"/>
              <a:ext cx="1249873" cy="333375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C83B83D-FC68-FEB1-DAB2-4B3DD690E43E}"/>
                </a:ext>
              </a:extLst>
            </p:cNvPr>
            <p:cNvSpPr/>
            <p:nvPr/>
          </p:nvSpPr>
          <p:spPr>
            <a:xfrm>
              <a:off x="9003885" y="4968188"/>
              <a:ext cx="2104832" cy="106483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最优用电参数</a:t>
              </a:r>
              <a:r>
                <a:rPr lang="en-US" altLang="zh-CN" b="1" dirty="0"/>
                <a:t>W</a:t>
              </a:r>
              <a:r>
                <a:rPr lang="en-US" altLang="zh-CN" b="1" baseline="30000" dirty="0"/>
                <a:t>*</a:t>
              </a:r>
              <a:endParaRPr lang="zh-CN" altLang="en-US" b="1" baseline="30000" dirty="0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039F6763-7321-94B1-6940-249D34CFB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429" y="2226039"/>
            <a:ext cx="4542857" cy="125714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4598B5B-006C-228A-65C9-F74D8E958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292" y="3392900"/>
            <a:ext cx="4095238" cy="105714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C3F8EF9-1407-B00D-DDCC-CEC886148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552" y="1578420"/>
            <a:ext cx="5733333" cy="647619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EE53B841-82D5-C91F-22C8-F4C988D93284}"/>
              </a:ext>
            </a:extLst>
          </p:cNvPr>
          <p:cNvSpPr txBox="1"/>
          <p:nvPr/>
        </p:nvSpPr>
        <p:spPr>
          <a:xfrm>
            <a:off x="1573231" y="1724193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二次模型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AEE251C-94BF-46EF-ADD3-7A950A644FF9}"/>
              </a:ext>
            </a:extLst>
          </p:cNvPr>
          <p:cNvSpPr txBox="1"/>
          <p:nvPr/>
        </p:nvSpPr>
        <p:spPr>
          <a:xfrm>
            <a:off x="499412" y="2632481"/>
            <a:ext cx="327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损失函数</a:t>
            </a:r>
            <a:r>
              <a:rPr lang="en-US" altLang="zh-CN" dirty="0"/>
              <a:t>(</a:t>
            </a:r>
            <a:r>
              <a:rPr lang="zh-CN" altLang="en-US" dirty="0"/>
              <a:t>均方误差</a:t>
            </a:r>
            <a:r>
              <a:rPr lang="en-US" altLang="zh-CN" dirty="0"/>
              <a:t>+L2</a:t>
            </a:r>
            <a:r>
              <a:rPr lang="zh-CN" altLang="en-US" dirty="0"/>
              <a:t>正则化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F237F4C-2F6B-2939-5066-D8914FFBAC77}"/>
              </a:ext>
            </a:extLst>
          </p:cNvPr>
          <p:cNvSpPr txBox="1"/>
          <p:nvPr/>
        </p:nvSpPr>
        <p:spPr>
          <a:xfrm>
            <a:off x="1429867" y="366041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标量形式梯度</a:t>
            </a:r>
          </a:p>
        </p:txBody>
      </p:sp>
    </p:spTree>
    <p:extLst>
      <p:ext uri="{BB962C8B-B14F-4D97-AF65-F5344CB8AC3E}">
        <p14:creationId xmlns:p14="http://schemas.microsoft.com/office/powerpoint/2010/main" val="62421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训练过程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9</a:t>
            </a:fld>
            <a:endParaRPr 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6D3A73-0125-F2DB-C0EF-0ED4A5BF5485}"/>
              </a:ext>
            </a:extLst>
          </p:cNvPr>
          <p:cNvGrpSpPr/>
          <p:nvPr/>
        </p:nvGrpSpPr>
        <p:grpSpPr>
          <a:xfrm>
            <a:off x="1033952" y="1419998"/>
            <a:ext cx="10389977" cy="1070421"/>
            <a:chOff x="718740" y="4962605"/>
            <a:chExt cx="10389977" cy="107042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8A777C8-A6DB-F273-771B-190F729B0F27}"/>
                </a:ext>
              </a:extLst>
            </p:cNvPr>
            <p:cNvSpPr/>
            <p:nvPr/>
          </p:nvSpPr>
          <p:spPr>
            <a:xfrm>
              <a:off x="4257292" y="4962605"/>
              <a:ext cx="2773318" cy="1070421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基于代理模型寻优，得到</a:t>
              </a:r>
              <a:r>
                <a:rPr lang="en-US" altLang="zh-CN" b="1" dirty="0"/>
                <a:t>W</a:t>
              </a:r>
              <a:r>
                <a:rPr lang="en-US" altLang="zh-CN" b="1" baseline="30000" dirty="0"/>
                <a:t>*</a:t>
              </a:r>
              <a:endParaRPr lang="en-US" altLang="zh-CN" b="1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58B762E-807D-4695-6C3B-C407037358E4}"/>
                </a:ext>
              </a:extLst>
            </p:cNvPr>
            <p:cNvSpPr/>
            <p:nvPr/>
          </p:nvSpPr>
          <p:spPr>
            <a:xfrm>
              <a:off x="718740" y="4968188"/>
              <a:ext cx="1904999" cy="106483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训练代理模型</a:t>
              </a:r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313EE600-B33E-9739-486C-B1B44500BD3A}"/>
                </a:ext>
              </a:extLst>
            </p:cNvPr>
            <p:cNvSpPr/>
            <p:nvPr/>
          </p:nvSpPr>
          <p:spPr>
            <a:xfrm>
              <a:off x="3007419" y="5333919"/>
              <a:ext cx="1058033" cy="333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54BD4209-E903-335F-2565-A7D2E5F5F137}"/>
                </a:ext>
              </a:extLst>
            </p:cNvPr>
            <p:cNvSpPr/>
            <p:nvPr/>
          </p:nvSpPr>
          <p:spPr>
            <a:xfrm>
              <a:off x="7392311" y="5333919"/>
              <a:ext cx="1249873" cy="3333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09ED2F5F-9239-908D-3ED9-1CB4CCBF3959}"/>
                </a:ext>
              </a:extLst>
            </p:cNvPr>
            <p:cNvSpPr/>
            <p:nvPr/>
          </p:nvSpPr>
          <p:spPr>
            <a:xfrm>
              <a:off x="9003885" y="4968188"/>
              <a:ext cx="2104832" cy="106483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真实评估器验证</a:t>
              </a:r>
              <a:r>
                <a:rPr lang="en-US" altLang="zh-CN" b="1" dirty="0"/>
                <a:t>W</a:t>
              </a:r>
              <a:r>
                <a:rPr lang="en-US" altLang="zh-CN" b="1" baseline="30000" dirty="0"/>
                <a:t>*</a:t>
              </a:r>
              <a:endParaRPr lang="zh-CN" altLang="en-US" b="1" baseline="30000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53BB7EAB-3C42-F005-3A83-66C5D50C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39" y="3003185"/>
            <a:ext cx="3274369" cy="3266027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E87BA744-523B-A0D3-C435-27A20745F91C}"/>
              </a:ext>
            </a:extLst>
          </p:cNvPr>
          <p:cNvGrpSpPr/>
          <p:nvPr/>
        </p:nvGrpSpPr>
        <p:grpSpPr>
          <a:xfrm>
            <a:off x="4034719" y="2841940"/>
            <a:ext cx="3882606" cy="3403386"/>
            <a:chOff x="3967535" y="3220224"/>
            <a:chExt cx="3629026" cy="3124869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8139B05-3646-4A04-6D36-C33A49CCE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7535" y="3220224"/>
              <a:ext cx="3629026" cy="3124869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6B849B3-D71A-C6FA-BDF0-0B1D8644EE43}"/>
                </a:ext>
              </a:extLst>
            </p:cNvPr>
            <p:cNvSpPr/>
            <p:nvPr/>
          </p:nvSpPr>
          <p:spPr>
            <a:xfrm>
              <a:off x="5076825" y="3429000"/>
              <a:ext cx="1685925" cy="3333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D2C0AEB4-108C-A22B-8CB4-40B05C0F3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1418" y="2971666"/>
            <a:ext cx="2357836" cy="161606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EFACBAF-25F9-1D27-7477-CCEA788E9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684" y="4733314"/>
            <a:ext cx="2401303" cy="17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4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FandolHei-Bold"/>
              </a:rPr>
              <a:t>二次岭回归</a:t>
            </a:r>
            <a:r>
              <a:rPr lang="en-US" altLang="zh-CN" dirty="0">
                <a:cs typeface="FandolHei-Bold"/>
              </a:rPr>
              <a:t>Baseline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10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764E6E-A161-15AC-3E8C-23A5A2A3C466}"/>
              </a:ext>
            </a:extLst>
          </p:cNvPr>
          <p:cNvSpPr txBox="1"/>
          <p:nvPr/>
        </p:nvSpPr>
        <p:spPr>
          <a:xfrm>
            <a:off x="455487" y="1292221"/>
            <a:ext cx="10622397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在线训练流程：</a:t>
            </a:r>
            <a:r>
              <a:rPr lang="zh-CN" altLang="en-US" sz="2000" dirty="0"/>
              <a:t>基于岭回归离线模型，利用即时数据（</a:t>
            </a:r>
            <a:r>
              <a:rPr lang="en-US" altLang="zh-CN" sz="2000" b="1" dirty="0" err="1"/>
              <a:t>W</a:t>
            </a:r>
            <a:r>
              <a:rPr lang="en-US" altLang="zh-CN" sz="2000" b="1" baseline="-25000" dirty="0" err="1"/>
              <a:t>k</a:t>
            </a:r>
            <a:r>
              <a:rPr lang="en-US" altLang="zh-CN" sz="2000" dirty="0" err="1"/>
              <a:t>,R</a:t>
            </a:r>
            <a:r>
              <a:rPr lang="en-US" altLang="zh-CN" sz="2000" baseline="-25000" dirty="0" err="1"/>
              <a:t>k</a:t>
            </a:r>
            <a:r>
              <a:rPr lang="zh-CN" altLang="en-US" sz="2000" dirty="0"/>
              <a:t>）迭代更新岭回归在线模型，再寻优用电参数</a:t>
            </a:r>
            <a:endParaRPr lang="en-US" altLang="zh-CN" sz="20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222226-61EC-87A5-687B-55DE2AC8D8A9}"/>
              </a:ext>
            </a:extLst>
          </p:cNvPr>
          <p:cNvGrpSpPr/>
          <p:nvPr/>
        </p:nvGrpSpPr>
        <p:grpSpPr>
          <a:xfrm>
            <a:off x="618333" y="2735908"/>
            <a:ext cx="10380604" cy="2661472"/>
            <a:chOff x="618333" y="2735908"/>
            <a:chExt cx="10380604" cy="266147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CC785D0-F092-8B40-94E1-BB9E5A384F2D}"/>
                </a:ext>
              </a:extLst>
            </p:cNvPr>
            <p:cNvSpPr/>
            <p:nvPr/>
          </p:nvSpPr>
          <p:spPr>
            <a:xfrm>
              <a:off x="4380027" y="4199819"/>
              <a:ext cx="2773318" cy="1070421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岭回归模型</a:t>
              </a:r>
              <a:r>
                <a:rPr lang="en-US" altLang="zh-CN" dirty="0"/>
                <a:t>M</a:t>
              </a:r>
              <a:r>
                <a:rPr lang="en-US" altLang="zh-CN" baseline="-25000" dirty="0"/>
                <a:t>on</a:t>
              </a:r>
              <a:endParaRPr lang="zh-CN" altLang="en-US" baseline="-25000" dirty="0"/>
            </a:p>
            <a:p>
              <a:pPr algn="ctr"/>
              <a:r>
                <a:rPr lang="en-US" altLang="zh-CN" dirty="0"/>
                <a:t>R</a:t>
              </a:r>
              <a:r>
                <a:rPr lang="en-US" altLang="zh-CN" b="1" dirty="0"/>
                <a:t> = </a:t>
              </a:r>
              <a:r>
                <a:rPr lang="en-US" altLang="zh-CN" dirty="0"/>
                <a:t>M</a:t>
              </a:r>
              <a:r>
                <a:rPr lang="en-US" altLang="zh-CN" baseline="-25000" dirty="0"/>
                <a:t>on</a:t>
              </a:r>
              <a:r>
                <a:rPr lang="en-US" altLang="zh-CN" b="1" dirty="0"/>
                <a:t>(W)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5A57113-51C0-77E4-C690-01923623C637}"/>
                </a:ext>
              </a:extLst>
            </p:cNvPr>
            <p:cNvSpPr/>
            <p:nvPr/>
          </p:nvSpPr>
          <p:spPr>
            <a:xfrm>
              <a:off x="618333" y="2770819"/>
              <a:ext cx="1904999" cy="8342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用电参数</a:t>
              </a:r>
              <a:r>
                <a:rPr lang="en-US" altLang="zh-CN" b="1" dirty="0" err="1"/>
                <a:t>W</a:t>
              </a:r>
              <a:r>
                <a:rPr lang="en-US" altLang="zh-CN" b="1" baseline="-25000" dirty="0" err="1"/>
                <a:t>k</a:t>
              </a:r>
              <a:endParaRPr lang="en-US" altLang="zh-CN" b="1" baseline="-25000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519F968-81F1-866A-7830-95DBBD0510F0}"/>
                </a:ext>
              </a:extLst>
            </p:cNvPr>
            <p:cNvSpPr/>
            <p:nvPr/>
          </p:nvSpPr>
          <p:spPr>
            <a:xfrm>
              <a:off x="9093938" y="2755301"/>
              <a:ext cx="1904999" cy="834265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用电波动量</a:t>
              </a:r>
              <a:r>
                <a:rPr lang="en-US" altLang="zh-CN" dirty="0" err="1"/>
                <a:t>R</a:t>
              </a:r>
              <a:r>
                <a:rPr lang="en-US" altLang="zh-CN" baseline="-25000" dirty="0" err="1"/>
                <a:t>k</a:t>
              </a:r>
              <a:endParaRPr lang="zh-CN" altLang="en-US" baseline="-25000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29DA6DF-D067-D335-30A3-3686E572DBCB}"/>
                </a:ext>
              </a:extLst>
            </p:cNvPr>
            <p:cNvSpPr/>
            <p:nvPr/>
          </p:nvSpPr>
          <p:spPr>
            <a:xfrm>
              <a:off x="4380027" y="2735908"/>
              <a:ext cx="2773318" cy="83426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真实评估器</a:t>
              </a: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8EB229DD-3529-1F54-C355-155525A6DB12}"/>
                </a:ext>
              </a:extLst>
            </p:cNvPr>
            <p:cNvSpPr/>
            <p:nvPr/>
          </p:nvSpPr>
          <p:spPr>
            <a:xfrm flipH="1">
              <a:off x="7414368" y="4083855"/>
              <a:ext cx="2764924" cy="763410"/>
            </a:xfrm>
            <a:custGeom>
              <a:avLst/>
              <a:gdLst>
                <a:gd name="connsiteX0" fmla="*/ 0 w 2687597"/>
                <a:gd name="connsiteY0" fmla="*/ 0 h 763410"/>
                <a:gd name="connsiteX1" fmla="*/ 182783 w 2687597"/>
                <a:gd name="connsiteY1" fmla="*/ 0 h 763410"/>
                <a:gd name="connsiteX2" fmla="*/ 182783 w 2687597"/>
                <a:gd name="connsiteY2" fmla="*/ 513379 h 763410"/>
                <a:gd name="connsiteX3" fmla="*/ 2520910 w 2687597"/>
                <a:gd name="connsiteY3" fmla="*/ 513379 h 763410"/>
                <a:gd name="connsiteX4" fmla="*/ 2520910 w 2687597"/>
                <a:gd name="connsiteY4" fmla="*/ 430035 h 763410"/>
                <a:gd name="connsiteX5" fmla="*/ 2687597 w 2687597"/>
                <a:gd name="connsiteY5" fmla="*/ 596723 h 763410"/>
                <a:gd name="connsiteX6" fmla="*/ 2520910 w 2687597"/>
                <a:gd name="connsiteY6" fmla="*/ 763410 h 763410"/>
                <a:gd name="connsiteX7" fmla="*/ 2520910 w 2687597"/>
                <a:gd name="connsiteY7" fmla="*/ 680066 h 763410"/>
                <a:gd name="connsiteX8" fmla="*/ 0 w 2687597"/>
                <a:gd name="connsiteY8" fmla="*/ 680066 h 763410"/>
                <a:gd name="connsiteX9" fmla="*/ 0 w 2687597"/>
                <a:gd name="connsiteY9" fmla="*/ 642966 h 763410"/>
                <a:gd name="connsiteX10" fmla="*/ 0 w 2687597"/>
                <a:gd name="connsiteY10" fmla="*/ 513379 h 763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87597" h="763410">
                  <a:moveTo>
                    <a:pt x="0" y="0"/>
                  </a:moveTo>
                  <a:lnTo>
                    <a:pt x="182783" y="0"/>
                  </a:lnTo>
                  <a:lnTo>
                    <a:pt x="182783" y="513379"/>
                  </a:lnTo>
                  <a:lnTo>
                    <a:pt x="2520910" y="513379"/>
                  </a:lnTo>
                  <a:lnTo>
                    <a:pt x="2520910" y="430035"/>
                  </a:lnTo>
                  <a:lnTo>
                    <a:pt x="2687597" y="596723"/>
                  </a:lnTo>
                  <a:lnTo>
                    <a:pt x="2520910" y="763410"/>
                  </a:lnTo>
                  <a:lnTo>
                    <a:pt x="2520910" y="680066"/>
                  </a:lnTo>
                  <a:lnTo>
                    <a:pt x="0" y="680066"/>
                  </a:lnTo>
                  <a:lnTo>
                    <a:pt x="0" y="642966"/>
                  </a:lnTo>
                  <a:lnTo>
                    <a:pt x="0" y="513379"/>
                  </a:lnTo>
                  <a:close/>
                </a:path>
              </a:pathLst>
            </a:cu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B58E86A-DE4F-44B8-2637-09CAB37F71A2}"/>
                </a:ext>
              </a:extLst>
            </p:cNvPr>
            <p:cNvSpPr/>
            <p:nvPr/>
          </p:nvSpPr>
          <p:spPr>
            <a:xfrm flipH="1">
              <a:off x="1235983" y="4155458"/>
              <a:ext cx="2918406" cy="691807"/>
            </a:xfrm>
            <a:custGeom>
              <a:avLst/>
              <a:gdLst>
                <a:gd name="connsiteX0" fmla="*/ 2751719 w 2918406"/>
                <a:gd name="connsiteY0" fmla="*/ 0 h 721808"/>
                <a:gd name="connsiteX1" fmla="*/ 2918406 w 2918406"/>
                <a:gd name="connsiteY1" fmla="*/ 166687 h 721808"/>
                <a:gd name="connsiteX2" fmla="*/ 2835062 w 2918406"/>
                <a:gd name="connsiteY2" fmla="*/ 166687 h 721808"/>
                <a:gd name="connsiteX3" fmla="*/ 2835062 w 2918406"/>
                <a:gd name="connsiteY3" fmla="*/ 519562 h 721808"/>
                <a:gd name="connsiteX4" fmla="*/ 2837252 w 2918406"/>
                <a:gd name="connsiteY4" fmla="*/ 519562 h 721808"/>
                <a:gd name="connsiteX5" fmla="*/ 2837252 w 2918406"/>
                <a:gd name="connsiteY5" fmla="*/ 721808 h 721808"/>
                <a:gd name="connsiteX6" fmla="*/ 0 w 2918406"/>
                <a:gd name="connsiteY6" fmla="*/ 721808 h 721808"/>
                <a:gd name="connsiteX7" fmla="*/ 0 w 2918406"/>
                <a:gd name="connsiteY7" fmla="*/ 519562 h 721808"/>
                <a:gd name="connsiteX8" fmla="*/ 2668375 w 2918406"/>
                <a:gd name="connsiteY8" fmla="*/ 519562 h 721808"/>
                <a:gd name="connsiteX9" fmla="*/ 2668375 w 2918406"/>
                <a:gd name="connsiteY9" fmla="*/ 166687 h 721808"/>
                <a:gd name="connsiteX10" fmla="*/ 2585031 w 2918406"/>
                <a:gd name="connsiteY10" fmla="*/ 166687 h 721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8406" h="721808">
                  <a:moveTo>
                    <a:pt x="2751719" y="0"/>
                  </a:moveTo>
                  <a:lnTo>
                    <a:pt x="2918406" y="166687"/>
                  </a:lnTo>
                  <a:lnTo>
                    <a:pt x="2835062" y="166687"/>
                  </a:lnTo>
                  <a:lnTo>
                    <a:pt x="2835062" y="519562"/>
                  </a:lnTo>
                  <a:lnTo>
                    <a:pt x="2837252" y="519562"/>
                  </a:lnTo>
                  <a:lnTo>
                    <a:pt x="2837252" y="721808"/>
                  </a:lnTo>
                  <a:lnTo>
                    <a:pt x="0" y="721808"/>
                  </a:lnTo>
                  <a:lnTo>
                    <a:pt x="0" y="519562"/>
                  </a:lnTo>
                  <a:lnTo>
                    <a:pt x="2668375" y="519562"/>
                  </a:lnTo>
                  <a:lnTo>
                    <a:pt x="2668375" y="166687"/>
                  </a:lnTo>
                  <a:lnTo>
                    <a:pt x="2585031" y="166687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06CB8437-9BCD-8EEE-75CF-A9BEF57078E1}"/>
                </a:ext>
              </a:extLst>
            </p:cNvPr>
            <p:cNvSpPr/>
            <p:nvPr/>
          </p:nvSpPr>
          <p:spPr>
            <a:xfrm rot="10800000" flipH="1">
              <a:off x="7414368" y="2958497"/>
              <a:ext cx="1512987" cy="45890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57445C0-600E-32B5-FCD5-027FFC22F5BC}"/>
                </a:ext>
              </a:extLst>
            </p:cNvPr>
            <p:cNvSpPr txBox="1"/>
            <p:nvPr/>
          </p:nvSpPr>
          <p:spPr>
            <a:xfrm>
              <a:off x="7780365" y="4971070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在线更新岭回归模型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9ED36CD-4032-0FE1-8226-9EF1A03A024D}"/>
                </a:ext>
              </a:extLst>
            </p:cNvPr>
            <p:cNvSpPr txBox="1"/>
            <p:nvPr/>
          </p:nvSpPr>
          <p:spPr>
            <a:xfrm>
              <a:off x="2200166" y="5028048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基于梯度下降</a:t>
              </a:r>
            </a:p>
          </p:txBody>
        </p:sp>
        <p:sp>
          <p:nvSpPr>
            <p:cNvPr id="14" name="箭头: 右 13">
              <a:extLst>
                <a:ext uri="{FF2B5EF4-FFF2-40B4-BE49-F238E27FC236}">
                  <a16:creationId xmlns:a16="http://schemas.microsoft.com/office/drawing/2014/main" id="{514B78E0-E740-F455-5028-6FEFBF6BF870}"/>
                </a:ext>
              </a:extLst>
            </p:cNvPr>
            <p:cNvSpPr/>
            <p:nvPr/>
          </p:nvSpPr>
          <p:spPr>
            <a:xfrm rot="10800000" flipH="1">
              <a:off x="2695186" y="2959541"/>
              <a:ext cx="1512987" cy="45890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17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8F50-AA58-46ED-8491-B2E59E4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评分组成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3CCB2-7EFF-4564-9D53-395E8985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6A9F-0901-4F07-A26C-3A4706D65D5F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29AED41-8D62-B7FD-01E9-0B79DC7E3A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8756043"/>
              </p:ext>
            </p:extLst>
          </p:nvPr>
        </p:nvGraphicFramePr>
        <p:xfrm>
          <a:off x="1379538" y="1452821"/>
          <a:ext cx="9432924" cy="4552950"/>
        </p:xfrm>
        <a:graphic>
          <a:graphicData uri="http://schemas.openxmlformats.org/drawingml/2006/table">
            <a:tbl>
              <a:tblPr/>
              <a:tblGrid>
                <a:gridCol w="256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5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8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lang="en-US" sz="2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分数组成</a:t>
                      </a:r>
                      <a:endParaRPr sz="2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lang="zh-CN" altLang="en-US" sz="2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分数</a:t>
                      </a:r>
                      <a:r>
                        <a:rPr sz="2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占比</a:t>
                      </a:r>
                      <a:endParaRPr sz="2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lang="zh-CN" altLang="en-US" sz="2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项目</a:t>
                      </a:r>
                      <a:r>
                        <a:rPr sz="2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Bold"/>
                        </a:rPr>
                        <a:t>要求</a:t>
                      </a:r>
                      <a:endParaRPr sz="2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Bold"/>
                      </a:endParaRPr>
                    </a:p>
                  </a:txBody>
                  <a:tcPr anchor="ctr">
                    <a:solidFill>
                      <a:srgbClr val="233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离线</a:t>
                      </a:r>
                      <a:r>
                        <a:rPr lang="zh-CN" altLang="en-US"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模型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7%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优于</a:t>
                      </a: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baseline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ira Sans Light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在线</a:t>
                      </a:r>
                      <a:r>
                        <a:rPr lang="zh-CN" altLang="en-US"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模型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8%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优于自己的离线结果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性能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lang="zh-CN" altLang="en-US"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根据在线模型的小组名次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创新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lang="zh-CN" altLang="en-US"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根据汇报</a:t>
                      </a:r>
                      <a:r>
                        <a:rPr lang="en-US" altLang="zh-CN"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+PPT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8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 err="1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报告</a:t>
                      </a:r>
                      <a:endParaRPr sz="2400" b="0" kern="1200" dirty="0">
                        <a:solidFill>
                          <a:srgbClr val="23373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FandolHei-Regular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010" b="0">
                          <a:solidFill>
                            <a:srgbClr val="23373B"/>
                          </a:solidFill>
                          <a:latin typeface="FandolHei-Regular"/>
                          <a:ea typeface="FandolHei-Regular"/>
                          <a:cs typeface="FandolHei-Regular"/>
                        </a:defRPr>
                      </a:pPr>
                      <a:r>
                        <a:rPr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IEEE</a:t>
                      </a:r>
                      <a:r>
                        <a:rPr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格式，不超过</a:t>
                      </a:r>
                      <a:r>
                        <a:rPr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ira Sans Light"/>
                        </a:rPr>
                        <a:t>4</a:t>
                      </a:r>
                      <a:r>
                        <a:rPr sz="2400" b="0" kern="1200" dirty="0">
                          <a:solidFill>
                            <a:srgbClr val="2337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FandolHei-Regular"/>
                        </a:rPr>
                        <a:t>页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9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33880</TotalTime>
  <Words>717</Words>
  <Application>Microsoft Office PowerPoint</Application>
  <PresentationFormat>宽屏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FandolHei-Bold</vt:lpstr>
      <vt:lpstr>FandolHei-Regular</vt:lpstr>
      <vt:lpstr>等线</vt:lpstr>
      <vt:lpstr>等线 Light</vt:lpstr>
      <vt:lpstr>华光隶书_CNKI</vt:lpstr>
      <vt:lpstr>微软雅黑</vt:lpstr>
      <vt:lpstr>Arial</vt:lpstr>
      <vt:lpstr>Fira Sans</vt:lpstr>
      <vt:lpstr>Fira Sans Light</vt:lpstr>
      <vt:lpstr>Times New Roman</vt:lpstr>
      <vt:lpstr>Office 主题​​</vt:lpstr>
      <vt:lpstr>PowerPoint 演示文稿</vt:lpstr>
      <vt:lpstr>背景介绍</vt:lpstr>
      <vt:lpstr>用电参数</vt:lpstr>
      <vt:lpstr>用电波动量</vt:lpstr>
      <vt:lpstr>任务描述</vt:lpstr>
      <vt:lpstr>任务描述</vt:lpstr>
      <vt:lpstr>在线模型</vt:lpstr>
      <vt:lpstr>二次岭回归Baseline</vt:lpstr>
      <vt:lpstr>训练过程</vt:lpstr>
      <vt:lpstr>二次岭回归Baseline</vt:lpstr>
      <vt:lpstr>评分组成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zhenkun wang</dc:creator>
  <cp:lastModifiedBy>king Archer</cp:lastModifiedBy>
  <cp:revision>1820</cp:revision>
  <cp:lastPrinted>2024-07-28T05:02:08Z</cp:lastPrinted>
  <dcterms:created xsi:type="dcterms:W3CDTF">2023-10-12T14:10:07Z</dcterms:created>
  <dcterms:modified xsi:type="dcterms:W3CDTF">2026-10-22T11:07:58Z</dcterms:modified>
</cp:coreProperties>
</file>